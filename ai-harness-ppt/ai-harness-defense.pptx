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i-harness-cover-16x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70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566928"/>
            <a:ext cx="329184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D2DEEB"/>
                </a:solidFill>
                <a:latin typeface="Noto Sans CJK SC"/>
                <a:ea typeface="Noto Sans CJK SC"/>
                <a:cs typeface="Microsoft YaHei"/>
              </a:rPr>
              <a:t>TGOSKits / StarryOS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170432"/>
            <a:ext cx="6217920" cy="9601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Noto Sans CJK SC"/>
                <a:ea typeface="Noto Sans CJK SC"/>
                <a:cs typeface="Microsoft YaHei"/>
              </a:rPr>
              <a:t>ArceOS 实验与 AI-Harness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057400"/>
            <a:ext cx="6126480" cy="8412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100" b="1">
                <a:solidFill>
                  <a:srgbClr val="DFE8F0"/>
                </a:solidFill>
                <a:latin typeface="Noto Sans CJK SC"/>
                <a:ea typeface="Noto Sans CJK SC"/>
                <a:cs typeface="Microsoft YaHei"/>
              </a:rPr>
              <a:t>任务一：工程化课程实验
任务二：StarryOS 自治开发框架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36976"/>
            <a:ext cx="5394960" cy="5303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0">
                <a:solidFill>
                  <a:srgbClr val="BECCDA"/>
                </a:solidFill>
                <a:latin typeface="Noto Sans CJK SC"/>
                <a:ea typeface="Noto Sans CJK SC"/>
                <a:cs typeface="Microsoft YaHei"/>
              </a:rPr>
              <a:t>从真实 ArceOS crate 生态到 syscall/qperf 自动化闭环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053328"/>
            <a:ext cx="3474720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BECCDA"/>
                </a:solidFill>
                <a:latin typeface="Noto Sans CJK SC"/>
                <a:ea typeface="Noto Sans CJK SC"/>
                <a:cs typeface="Microsoft YaHei"/>
              </a:rPr>
              <a:t>答辩汇报 | 2026-05-28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64592"/>
          </a:xfrm>
          <a:prstGeom prst="rect">
            <a:avLst/>
          </a:prstGeom>
          <a:solidFill>
            <a:srgbClr val="12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0" y="237744"/>
            <a:ext cx="228600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850" b="0">
                <a:solidFill>
                  <a:srgbClr val="606F80"/>
                </a:solidFill>
                <a:latin typeface="Noto Sans CJK SC"/>
                <a:ea typeface="Noto Sans CJK SC"/>
                <a:cs typeface="Microsoft YaHei"/>
              </a:rPr>
              <a:t>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29184"/>
            <a:ext cx="210312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50" b="1">
                <a:solidFill>
                  <a:srgbClr val="00A6B5"/>
                </a:solidFill>
                <a:latin typeface="Noto Sans CJK SC"/>
                <a:ea typeface="Noto Sans CJK SC"/>
                <a:cs typeface="Microsoft YaHei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30352"/>
            <a:ext cx="8046720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>
                <a:solidFill>
                  <a:srgbClr val="121820"/>
                </a:solidFill>
                <a:latin typeface="Noto Sans CJK SC"/>
                <a:ea typeface="Noto Sans CJK SC"/>
                <a:cs typeface="Microsoft YaHei"/>
              </a:rPr>
              <a:t>答辩结构：两个任务，一条工程能力主线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051560"/>
            <a:ext cx="8046720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0">
                <a:solidFill>
                  <a:srgbClr val="606F80"/>
                </a:solidFill>
                <a:latin typeface="Noto Sans CJK SC"/>
                <a:ea typeface="Noto Sans CJK SC"/>
                <a:cs typeface="Microsoft YaHei"/>
              </a:rPr>
              <a:t>任务一训练真实 ArceOS 工程实践；任务二把这种实践进一步自动化、证据化。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35024"/>
            <a:ext cx="1051560" cy="41148"/>
          </a:xfrm>
          <a:prstGeom prst="rect">
            <a:avLst/>
          </a:prstGeom>
          <a:solidFill>
            <a:srgbClr val="EF9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49808" y="1719072"/>
            <a:ext cx="5065776" cy="396849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9808" y="1719072"/>
            <a:ext cx="73152" cy="3968496"/>
          </a:xfrm>
          <a:prstGeom prst="rect">
            <a:avLst/>
          </a:prstGeom>
          <a:solidFill>
            <a:srgbClr val="00A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1883664"/>
            <a:ext cx="4681728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21820"/>
                </a:solidFill>
                <a:latin typeface="Noto Sans CJK SC"/>
                <a:ea typeface="Noto Sans CJK SC"/>
                <a:cs typeface="Microsoft YaHei"/>
              </a:rPr>
              <a:t>任务一：tg-arceos-tutorial 五个实验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295144"/>
            <a:ext cx="4681728" cy="3273552"/>
          </a:xfrm>
          <a:prstGeom prst="rect">
            <a:avLst/>
          </a:prstGeom>
          <a:noFill/>
        </p:spPr>
        <p:txBody>
          <a:bodyPr wrap="square" lIns="73152" rIns="54864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425"/>
              </a:spcAft>
            </a:pPr>
            <a:r>
              <a:rPr sz="1290" b="0">
                <a:solidFill>
                  <a:srgbClr val="212936"/>
                </a:solidFill>
                <a:latin typeface="Noto Sans CJK SC"/>
                <a:ea typeface="Noto Sans CJK SC"/>
                <a:cs typeface="Microsoft YaHei"/>
              </a:rPr>
              <a:t>printcolor：从应用输出触达 axstd/axhal 层次</a:t>
            </a:r>
          </a:p>
          <a:p>
            <a:pPr>
              <a:lnSpc>
                <a:spcPct val="105000"/>
              </a:lnSpc>
              <a:spcAft>
                <a:spcPts val="425"/>
              </a:spcAft>
            </a:pPr>
            <a:r>
              <a:rPr sz="1290" b="0">
                <a:solidFill>
                  <a:srgbClr val="212936"/>
                </a:solidFill>
                <a:latin typeface="Noto Sans CJK SC"/>
                <a:ea typeface="Noto Sans CJK SC"/>
                <a:cs typeface="Microsoft YaHei"/>
              </a:rPr>
              <a:t>hashmap：把 Rust 集合生态接入 no_std axstd</a:t>
            </a:r>
          </a:p>
          <a:p>
            <a:pPr>
              <a:lnSpc>
                <a:spcPct val="105000"/>
              </a:lnSpc>
              <a:spcAft>
                <a:spcPts val="425"/>
              </a:spcAft>
            </a:pPr>
            <a:r>
              <a:rPr sz="1290" b="0">
                <a:solidFill>
                  <a:srgbClr val="212936"/>
                </a:solidFill>
                <a:latin typeface="Noto Sans CJK SC"/>
                <a:ea typeface="Noto Sans CJK SC"/>
                <a:cs typeface="Microsoft YaHei"/>
              </a:rPr>
              <a:t>altalloc：实现同时服务 byte/page 的 bump allocator</a:t>
            </a:r>
          </a:p>
          <a:p>
            <a:pPr>
              <a:lnSpc>
                <a:spcPct val="105000"/>
              </a:lnSpc>
              <a:spcAft>
                <a:spcPts val="425"/>
              </a:spcAft>
            </a:pPr>
            <a:r>
              <a:rPr sz="1290" b="0">
                <a:solidFill>
                  <a:srgbClr val="212936"/>
                </a:solidFill>
                <a:latin typeface="Noto Sans CJK SC"/>
                <a:ea typeface="Noto Sans CJK SC"/>
                <a:cs typeface="Microsoft YaHei"/>
              </a:rPr>
              <a:t>ramfs-rename：补齐 VFS 到 ramfs 的 rename 语义链路</a:t>
            </a:r>
          </a:p>
          <a:p>
            <a:pPr>
              <a:lnSpc>
                <a:spcPct val="105000"/>
              </a:lnSpc>
              <a:spcAft>
                <a:spcPts val="425"/>
              </a:spcAft>
            </a:pPr>
            <a:r>
              <a:rPr sz="1290" b="0">
                <a:solidFill>
                  <a:srgbClr val="212936"/>
                </a:solidFill>
                <a:latin typeface="Noto Sans CJK SC"/>
                <a:ea typeface="Noto Sans CJK SC"/>
                <a:cs typeface="Microsoft YaHei"/>
              </a:rPr>
              <a:t>sysmap：运行 musl 用户态程序并实现文件 mmap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82512" y="1719072"/>
            <a:ext cx="5065776" cy="396849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82512" y="1719072"/>
            <a:ext cx="73152" cy="3968496"/>
          </a:xfrm>
          <a:prstGeom prst="rect">
            <a:avLst/>
          </a:prstGeom>
          <a:solidFill>
            <a:srgbClr val="EF9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0256" y="1883664"/>
            <a:ext cx="4681728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21820"/>
                </a:solidFill>
                <a:latin typeface="Noto Sans CJK SC"/>
                <a:ea typeface="Noto Sans CJK SC"/>
                <a:cs typeface="Microsoft YaHei"/>
              </a:rPr>
              <a:t>任务二：AI-Harness 自治开发框架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92824" y="2295144"/>
            <a:ext cx="4681728" cy="3273552"/>
          </a:xfrm>
          <a:prstGeom prst="rect">
            <a:avLst/>
          </a:prstGeom>
          <a:noFill/>
        </p:spPr>
        <p:txBody>
          <a:bodyPr wrap="square" lIns="73152" rIns="54864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425"/>
              </a:spcAft>
            </a:pPr>
            <a:r>
              <a:rPr sz="1290" b="0">
                <a:solidFill>
                  <a:srgbClr val="212936"/>
                </a:solidFill>
                <a:latin typeface="Noto Sans CJK SC"/>
                <a:ea typeface="Noto Sans CJK SC"/>
                <a:cs typeface="Microsoft YaHei"/>
              </a:rPr>
              <a:t>syscall Linux-vs-StarryOS 对拍</a:t>
            </a:r>
          </a:p>
          <a:p>
            <a:pPr>
              <a:lnSpc>
                <a:spcPct val="105000"/>
              </a:lnSpc>
              <a:spcAft>
                <a:spcPts val="425"/>
              </a:spcAft>
            </a:pPr>
            <a:r>
              <a:rPr sz="1290" b="0">
                <a:solidFill>
                  <a:srgbClr val="212936"/>
                </a:solidFill>
                <a:latin typeface="Noto Sans CJK SC"/>
                <a:ea typeface="Noto Sans CJK SC"/>
                <a:cs typeface="Microsoft YaHei"/>
              </a:rPr>
              <a:t>qperf profile / flamegraph / perf-diff</a:t>
            </a:r>
          </a:p>
          <a:p>
            <a:pPr>
              <a:lnSpc>
                <a:spcPct val="105000"/>
              </a:lnSpc>
              <a:spcAft>
                <a:spcPts val="425"/>
              </a:spcAft>
            </a:pPr>
            <a:r>
              <a:rPr sz="1290" b="0">
                <a:solidFill>
                  <a:srgbClr val="212936"/>
                </a:solidFill>
                <a:latin typeface="Noto Sans CJK SC"/>
                <a:ea typeface="Noto Sans CJK SC"/>
                <a:cs typeface="Microsoft YaHei"/>
              </a:rPr>
              <a:t>CLI + MCP + Local UI + Codex skill</a:t>
            </a:r>
          </a:p>
          <a:p>
            <a:pPr>
              <a:lnSpc>
                <a:spcPct val="105000"/>
              </a:lnSpc>
              <a:spcAft>
                <a:spcPts val="425"/>
              </a:spcAft>
            </a:pPr>
            <a:r>
              <a:rPr sz="1290" b="0">
                <a:solidFill>
                  <a:srgbClr val="212936"/>
                </a:solidFill>
                <a:latin typeface="Noto Sans CJK SC"/>
                <a:ea typeface="Noto Sans CJK SC"/>
                <a:cs typeface="Microsoft YaHei"/>
              </a:rPr>
              <a:t>Docker 隔离执行与结构化报告</a:t>
            </a:r>
          </a:p>
          <a:p>
            <a:pPr>
              <a:lnSpc>
                <a:spcPct val="105000"/>
              </a:lnSpc>
              <a:spcAft>
                <a:spcPts val="425"/>
              </a:spcAft>
            </a:pPr>
            <a:r>
              <a:rPr sz="1290" b="0">
                <a:solidFill>
                  <a:srgbClr val="212936"/>
                </a:solidFill>
                <a:latin typeface="Noto Sans CJK SC"/>
                <a:ea typeface="Noto Sans CJK SC"/>
                <a:cs typeface="Microsoft YaHei"/>
              </a:rPr>
              <a:t>面向 PR 的证据链和回归验证流程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" y="5980176"/>
            <a:ext cx="10387584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420" b="1">
                <a:solidFill>
                  <a:srgbClr val="121820"/>
                </a:solidFill>
                <a:latin typeface="Noto Sans CJK SC"/>
                <a:ea typeface="Noto Sans CJK SC"/>
                <a:cs typeface="Microsoft YaHei"/>
              </a:rPr>
              <a:t>贯穿主线：不是只理解 OS 原理，而是在真实工程约束下把功能做成可构建、可运行、可验证、可协作的系统能力。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510528"/>
            <a:ext cx="256032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50" b="0">
                <a:solidFill>
                  <a:srgbClr val="606F80"/>
                </a:solidFill>
                <a:latin typeface="Noto Sans CJK SC"/>
                <a:ea typeface="Noto Sans CJK SC"/>
                <a:cs typeface="Microsoft YaHei"/>
              </a:rPr>
              <a:t>AI-Harness 答辩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0232" y="6510528"/>
            <a:ext cx="694944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850" b="0">
                <a:solidFill>
                  <a:srgbClr val="606F80"/>
                </a:solidFill>
                <a:latin typeface="Noto Sans CJK SC"/>
                <a:ea typeface="Noto Sans CJK SC"/>
                <a:cs typeface="Microsoft YaHei"/>
              </a:rPr>
              <a:t>02/23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64592"/>
          </a:xfrm>
          <a:prstGeom prst="rect">
            <a:avLst/>
          </a:prstGeom>
          <a:solidFill>
            <a:srgbClr val="12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0" y="237744"/>
            <a:ext cx="228600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850" b="0">
                <a:solidFill>
                  <a:srgbClr val="606F80"/>
                </a:solidFill>
                <a:latin typeface="Noto Sans CJK SC"/>
                <a:ea typeface="Noto Sans CJK SC"/>
                <a:cs typeface="Microsoft YaHei"/>
              </a:rPr>
              <a:t>T1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29184"/>
            <a:ext cx="210312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50" b="1">
                <a:solidFill>
                  <a:srgbClr val="00A6B5"/>
                </a:solidFill>
                <a:latin typeface="Noto Sans CJK SC"/>
                <a:ea typeface="Noto Sans CJK SC"/>
                <a:cs typeface="Microsoft YaHei"/>
              </a:rPr>
              <a:t>TASK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30352"/>
            <a:ext cx="8046720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>
                <a:solidFill>
                  <a:srgbClr val="121820"/>
                </a:solidFill>
                <a:latin typeface="Noto Sans CJK SC"/>
                <a:ea typeface="Noto Sans CJK SC"/>
                <a:cs typeface="Microsoft YaHei"/>
              </a:rPr>
              <a:t>任务一概览：五个实验覆盖 ArceOS 的关键工程边界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051560"/>
            <a:ext cx="8046720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0">
                <a:solidFill>
                  <a:srgbClr val="606F80"/>
                </a:solidFill>
                <a:latin typeface="Noto Sans CJK SC"/>
                <a:ea typeface="Noto Sans CJK SC"/>
                <a:cs typeface="Microsoft YaHei"/>
              </a:rPr>
              <a:t>每个 exercise 都是独立 unikernel 项目，支持多架构 build/run，并用脚本检查串口输出。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35024"/>
            <a:ext cx="1051560" cy="41148"/>
          </a:xfrm>
          <a:prstGeom prst="rect">
            <a:avLst/>
          </a:prstGeom>
          <a:solidFill>
            <a:srgbClr val="EF9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30352" y="1572768"/>
          <a:ext cx="11137392" cy="2907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240280"/>
                <a:gridCol w="3429000"/>
                <a:gridCol w="3639312"/>
              </a:tblGrid>
              <a:tr h="484632">
                <a:tc>
                  <a:txBody>
                    <a:bodyPr lIns="54864" rIns="36576"/>
                    <a:lstStyle/>
                    <a:p>
                      <a:pPr algn="ctr"/>
                      <a:r>
                        <a:rPr sz="104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Microsoft YaHei"/>
                        </a:rPr>
                        <a:t>实验</a:t>
                      </a:r>
                    </a:p>
                  </a:txBody>
                  <a:tcPr anchor="ctr">
                    <a:solidFill>
                      <a:srgbClr val="121820"/>
                    </a:solidFill>
                  </a:tcPr>
                </a:tc>
                <a:tc>
                  <a:txBody>
                    <a:bodyPr lIns="54864" rIns="36576"/>
                    <a:lstStyle/>
                    <a:p>
                      <a:pPr algn="ctr"/>
                      <a:r>
                        <a:rPr sz="104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Microsoft YaHei"/>
                        </a:rPr>
                        <a:t>核心任务</a:t>
                      </a:r>
                    </a:p>
                  </a:txBody>
                  <a:tcPr anchor="ctr">
                    <a:solidFill>
                      <a:srgbClr val="121820"/>
                    </a:solidFill>
                  </a:tcPr>
                </a:tc>
                <a:tc>
                  <a:txBody>
                    <a:bodyPr lIns="54864" rIns="36576"/>
                    <a:lstStyle/>
                    <a:p>
                      <a:pPr algn="ctr"/>
                      <a:r>
                        <a:rPr sz="104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Microsoft YaHei"/>
                        </a:rPr>
                        <a:t>触达模块</a:t>
                      </a:r>
                    </a:p>
                  </a:txBody>
                  <a:tcPr anchor="ctr">
                    <a:solidFill>
                      <a:srgbClr val="121820"/>
                    </a:solidFill>
                  </a:tcPr>
                </a:tc>
                <a:tc>
                  <a:txBody>
                    <a:bodyPr lIns="54864" rIns="36576"/>
                    <a:lstStyle/>
                    <a:p>
                      <a:pPr algn="ctr"/>
                      <a:r>
                        <a:rPr sz="104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Microsoft YaHei"/>
                        </a:rPr>
                        <a:t>验收信号</a:t>
                      </a:r>
                    </a:p>
                  </a:txBody>
                  <a:tcPr anchor="ctr">
                    <a:solidFill>
                      <a:srgbClr val="121820"/>
                    </a:solidFill>
                  </a:tcPr>
                </a:tc>
              </a:tr>
              <a:tr h="484632">
                <a:tc>
                  <a:txBody>
                    <a:bodyPr lIns="54864" rIns="36576"/>
                    <a:lstStyle/>
                    <a:p>
                      <a:pPr algn="ctr"/>
                      <a:r>
                        <a:rPr sz="969" b="1">
                          <a:solidFill>
                            <a:srgbClr val="212936"/>
                          </a:solidFill>
                          <a:latin typeface="Noto Sans CJK SC"/>
                          <a:ea typeface="Noto Sans CJK SC"/>
                          <a:cs typeface="Microsoft YaHei"/>
                        </a:rPr>
                        <a:t>printcolor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54864" rIns="36576"/>
                    <a:lstStyle/>
                    <a:p>
                      <a:pPr algn="ctr"/>
                      <a:r>
                        <a:rPr sz="969" b="0">
                          <a:solidFill>
                            <a:srgbClr val="212936"/>
                          </a:solidFill>
                          <a:latin typeface="Noto Sans CJK SC"/>
                          <a:ea typeface="Noto Sans CJK SC"/>
                          <a:cs typeface="Microsoft YaHei"/>
                        </a:rPr>
                        <a:t>ANSI 彩色输出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54864" rIns="36576"/>
                    <a:lstStyle/>
                    <a:p>
                      <a:pPr algn="l"/>
                      <a:r>
                        <a:rPr sz="969" b="0">
                          <a:solidFill>
                            <a:srgbClr val="212936"/>
                          </a:solidFill>
                          <a:latin typeface="Noto Sans CJK SC"/>
                          <a:ea typeface="Noto Sans CJK SC"/>
                          <a:cs typeface="Microsoft YaHei"/>
                        </a:rPr>
                        <a:t>应用输出 / axstd / axhal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54864" rIns="36576"/>
                    <a:lstStyle/>
                    <a:p>
                      <a:pPr algn="ctr"/>
                      <a:r>
                        <a:rPr sz="969" b="0">
                          <a:solidFill>
                            <a:srgbClr val="212936"/>
                          </a:solidFill>
                          <a:latin typeface="Noto Sans CJK SC"/>
                          <a:ea typeface="Noto Sans CJK SC"/>
                          <a:cs typeface="Microsoft YaHei"/>
                        </a:rPr>
                        <a:t>Hello + SGR 序列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 lIns="54864" rIns="36576"/>
                    <a:lstStyle/>
                    <a:p>
                      <a:pPr algn="ctr"/>
                      <a:r>
                        <a:rPr sz="969" b="1">
                          <a:solidFill>
                            <a:srgbClr val="212936"/>
                          </a:solidFill>
                          <a:latin typeface="Noto Sans CJK SC"/>
                          <a:ea typeface="Noto Sans CJK SC"/>
                          <a:cs typeface="Microsoft YaHei"/>
                        </a:rPr>
                        <a:t>hashmap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 lIns="54864" rIns="36576"/>
                    <a:lstStyle/>
                    <a:p>
                      <a:pPr algn="ctr"/>
                      <a:r>
                        <a:rPr sz="969" b="0">
                          <a:solidFill>
                            <a:srgbClr val="212936"/>
                          </a:solidFill>
                          <a:latin typeface="Noto Sans CJK SC"/>
                          <a:ea typeface="Noto Sans CJK SC"/>
                          <a:cs typeface="Microsoft YaHei"/>
                        </a:rPr>
                        <a:t>collections::HashMap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 lIns="54864" rIns="36576"/>
                    <a:lstStyle/>
                    <a:p>
                      <a:pPr algn="l"/>
                      <a:r>
                        <a:rPr sz="969" b="0">
                          <a:solidFill>
                            <a:srgbClr val="212936"/>
                          </a:solidFill>
                          <a:latin typeface="Noto Sans CJK SC"/>
                          <a:ea typeface="Noto Sans CJK SC"/>
                          <a:cs typeface="Microsoft YaHei"/>
                        </a:rPr>
                        <a:t>axstd + hashbrown + alloc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 lIns="54864" rIns="36576"/>
                    <a:lstStyle/>
                    <a:p>
                      <a:pPr algn="ctr"/>
                      <a:r>
                        <a:rPr sz="969" b="0">
                          <a:solidFill>
                            <a:srgbClr val="212936"/>
                          </a:solidFill>
                          <a:latin typeface="Noto Sans CJK SC"/>
                          <a:ea typeface="Noto Sans CJK SC"/>
                          <a:cs typeface="Microsoft YaHei"/>
                        </a:rPr>
                        <a:t>5 万键值插入与校验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</a:tr>
              <a:tr h="484632">
                <a:tc>
                  <a:txBody>
                    <a:bodyPr lIns="54864" rIns="36576"/>
                    <a:lstStyle/>
                    <a:p>
                      <a:pPr algn="ctr"/>
                      <a:r>
                        <a:rPr sz="969" b="1">
                          <a:solidFill>
                            <a:srgbClr val="212936"/>
                          </a:solidFill>
                          <a:latin typeface="Noto Sans CJK SC"/>
                          <a:ea typeface="Noto Sans CJK SC"/>
                          <a:cs typeface="Microsoft YaHei"/>
                        </a:rPr>
                        <a:t>altalloc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54864" rIns="36576"/>
                    <a:lstStyle/>
                    <a:p>
                      <a:pPr algn="ctr"/>
                      <a:r>
                        <a:rPr sz="969" b="0">
                          <a:solidFill>
                            <a:srgbClr val="212936"/>
                          </a:solidFill>
                          <a:latin typeface="Noto Sans CJK SC"/>
                          <a:ea typeface="Noto Sans CJK SC"/>
                          <a:cs typeface="Microsoft YaHei"/>
                        </a:rPr>
                        <a:t>bump_allocator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54864" rIns="36576"/>
                    <a:lstStyle/>
                    <a:p>
                      <a:pPr algn="l"/>
                      <a:r>
                        <a:rPr sz="969" b="0">
                          <a:solidFill>
                            <a:srgbClr val="212936"/>
                          </a:solidFill>
                          <a:latin typeface="Noto Sans CJK SC"/>
                          <a:ea typeface="Noto Sans CJK SC"/>
                          <a:cs typeface="Microsoft YaHei"/>
                        </a:rPr>
                        <a:t>axalloc / global allocator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54864" rIns="36576"/>
                    <a:lstStyle/>
                    <a:p>
                      <a:pPr algn="ctr"/>
                      <a:r>
                        <a:rPr sz="969" b="0">
                          <a:solidFill>
                            <a:srgbClr val="212936"/>
                          </a:solidFill>
                          <a:latin typeface="Noto Sans CJK SC"/>
                          <a:ea typeface="Noto Sans CJK SC"/>
                          <a:cs typeface="Microsoft YaHei"/>
                        </a:rPr>
                        <a:t>300 万 Vec push + sort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 lIns="54864" rIns="36576"/>
                    <a:lstStyle/>
                    <a:p>
                      <a:pPr algn="ctr"/>
                      <a:r>
                        <a:rPr sz="969" b="1">
                          <a:solidFill>
                            <a:srgbClr val="212936"/>
                          </a:solidFill>
                          <a:latin typeface="Noto Sans CJK SC"/>
                          <a:ea typeface="Noto Sans CJK SC"/>
                          <a:cs typeface="Microsoft YaHei"/>
                        </a:rPr>
                        <a:t>ramfs-rename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 lIns="54864" rIns="36576"/>
                    <a:lstStyle/>
                    <a:p>
                      <a:pPr algn="ctr"/>
                      <a:r>
                        <a:rPr sz="969" b="0">
                          <a:solidFill>
                            <a:srgbClr val="212936"/>
                          </a:solidFill>
                          <a:latin typeface="Noto Sans CJK SC"/>
                          <a:ea typeface="Noto Sans CJK SC"/>
                          <a:cs typeface="Microsoft YaHei"/>
                        </a:rPr>
                        <a:t>std::fs::rename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 lIns="54864" rIns="36576"/>
                    <a:lstStyle/>
                    <a:p>
                      <a:pPr algn="l"/>
                      <a:r>
                        <a:rPr sz="969" b="0">
                          <a:solidFill>
                            <a:srgbClr val="212936"/>
                          </a:solidFill>
                          <a:latin typeface="Noto Sans CJK SC"/>
                          <a:ea typeface="Noto Sans CJK SC"/>
                          <a:cs typeface="Microsoft YaHei"/>
                        </a:rPr>
                        <a:t>axfs + axfs_ramfs + VFS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 lIns="54864" rIns="36576"/>
                    <a:lstStyle/>
                    <a:p>
                      <a:pPr algn="ctr"/>
                      <a:r>
                        <a:rPr sz="969" b="0">
                          <a:solidFill>
                            <a:srgbClr val="212936"/>
                          </a:solidFill>
                          <a:latin typeface="Noto Sans CJK SC"/>
                          <a:ea typeface="Noto Sans CJK SC"/>
                          <a:cs typeface="Microsoft YaHei"/>
                        </a:rPr>
                        <a:t>ramfs 文件重命名并读回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</a:tr>
              <a:tr h="484632">
                <a:tc>
                  <a:txBody>
                    <a:bodyPr lIns="54864" rIns="36576"/>
                    <a:lstStyle/>
                    <a:p>
                      <a:pPr algn="ctr"/>
                      <a:r>
                        <a:rPr sz="969" b="1">
                          <a:solidFill>
                            <a:srgbClr val="212936"/>
                          </a:solidFill>
                          <a:latin typeface="Noto Sans CJK SC"/>
                          <a:ea typeface="Noto Sans CJK SC"/>
                          <a:cs typeface="Microsoft YaHei"/>
                        </a:rPr>
                        <a:t>sysmap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54864" rIns="36576"/>
                    <a:lstStyle/>
                    <a:p>
                      <a:pPr algn="ctr"/>
                      <a:r>
                        <a:rPr sz="969" b="0">
                          <a:solidFill>
                            <a:srgbClr val="212936"/>
                          </a:solidFill>
                          <a:latin typeface="Noto Sans CJK SC"/>
                          <a:ea typeface="Noto Sans CJK SC"/>
                          <a:cs typeface="Microsoft YaHei"/>
                        </a:rPr>
                        <a:t>SYS_MMAP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54864" rIns="36576"/>
                    <a:lstStyle/>
                    <a:p>
                      <a:pPr algn="l"/>
                      <a:r>
                        <a:rPr sz="969" b="0">
                          <a:solidFill>
                            <a:srgbClr val="212936"/>
                          </a:solidFill>
                          <a:latin typeface="Noto Sans CJK SC"/>
                          <a:ea typeface="Noto Sans CJK SC"/>
                          <a:cs typeface="Microsoft YaHei"/>
                        </a:rPr>
                        <a:t>用户态 ELF / syscall / AddrSpace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54864" rIns="36576"/>
                    <a:lstStyle/>
                    <a:p>
                      <a:pPr algn="ctr"/>
                      <a:r>
                        <a:rPr sz="969" b="0">
                          <a:solidFill>
                            <a:srgbClr val="212936"/>
                          </a:solidFill>
                          <a:latin typeface="Noto Sans CJK SC"/>
                          <a:ea typeface="Noto Sans CJK SC"/>
                          <a:cs typeface="Microsoft YaHei"/>
                        </a:rPr>
                        <a:t>mmap 文件并读回 hello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49808" y="4773168"/>
            <a:ext cx="10625328" cy="85953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9808" y="4773168"/>
            <a:ext cx="73152" cy="859536"/>
          </a:xfrm>
          <a:prstGeom prst="rect">
            <a:avLst/>
          </a:prstGeom>
          <a:solidFill>
            <a:srgbClr val="00A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4937760"/>
            <a:ext cx="10241280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50" b="1">
                <a:solidFill>
                  <a:srgbClr val="121820"/>
                </a:solidFill>
                <a:latin typeface="Noto Sans CJK SC"/>
                <a:ea typeface="Noto Sans CJK SC"/>
                <a:cs typeface="Microsoft YaHei"/>
              </a:rPr>
              <a:t>共同工程框架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349240"/>
            <a:ext cx="10241280" cy="164592"/>
          </a:xfrm>
          <a:prstGeom prst="rect">
            <a:avLst/>
          </a:prstGeom>
          <a:noFill/>
        </p:spPr>
        <p:txBody>
          <a:bodyPr wrap="square" lIns="73152" rIns="54864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425"/>
              </a:spcAft>
            </a:pPr>
            <a:r>
              <a:rPr sz="1140" b="0">
                <a:solidFill>
                  <a:srgbClr val="212936"/>
                </a:solidFill>
                <a:latin typeface="Noto Sans CJK SC"/>
                <a:ea typeface="Noto Sans CJK SC"/>
                <a:cs typeface="Microsoft YaHei"/>
              </a:rPr>
              <a:t>nightly + bare-metal targets + cargo xtask + QEMU；脚本覆盖 riscv64、x86_64、aarch64、loongarch64，并按串口输出做功能判定。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510528"/>
            <a:ext cx="256032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50" b="0">
                <a:solidFill>
                  <a:srgbClr val="606F80"/>
                </a:solidFill>
                <a:latin typeface="Noto Sans CJK SC"/>
                <a:ea typeface="Noto Sans CJK SC"/>
                <a:cs typeface="Microsoft YaHei"/>
              </a:rPr>
              <a:t>AI-Harness 答辩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0232" y="6510528"/>
            <a:ext cx="694944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850" b="0">
                <a:solidFill>
                  <a:srgbClr val="606F80"/>
                </a:solidFill>
                <a:latin typeface="Noto Sans CJK SC"/>
                <a:ea typeface="Noto Sans CJK SC"/>
                <a:cs typeface="Microsoft YaHei"/>
              </a:rPr>
              <a:t>03/23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64592"/>
          </a:xfrm>
          <a:prstGeom prst="rect">
            <a:avLst/>
          </a:prstGeom>
          <a:solidFill>
            <a:srgbClr val="12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0" y="237744"/>
            <a:ext cx="228600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850" b="0">
                <a:solidFill>
                  <a:srgbClr val="606F80"/>
                </a:solidFill>
                <a:latin typeface="Noto Sans CJK SC"/>
                <a:ea typeface="Noto Sans CJK SC"/>
                <a:cs typeface="Microsoft YaHei"/>
              </a:rPr>
              <a:t>T1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29184"/>
            <a:ext cx="210312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50" b="1">
                <a:solidFill>
                  <a:srgbClr val="00A6B5"/>
                </a:solidFill>
                <a:latin typeface="Noto Sans CJK SC"/>
                <a:ea typeface="Noto Sans CJK SC"/>
                <a:cs typeface="Microsoft YaHei"/>
              </a:rPr>
              <a:t>TASK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30352"/>
            <a:ext cx="8046720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>
                <a:solidFill>
                  <a:srgbClr val="121820"/>
                </a:solidFill>
                <a:latin typeface="Noto Sans CJK SC"/>
                <a:ea typeface="Noto Sans CJK SC"/>
                <a:cs typeface="Microsoft YaHei"/>
              </a:rPr>
              <a:t>任务一学习路径：从可见输出走向用户态 syscall 语义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051560"/>
            <a:ext cx="8046720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0">
                <a:solidFill>
                  <a:srgbClr val="606F80"/>
                </a:solidFill>
                <a:latin typeface="Noto Sans CJK SC"/>
                <a:ea typeface="Noto Sans CJK SC"/>
                <a:cs typeface="Microsoft YaHei"/>
              </a:rPr>
              <a:t>实验难度不是堆知识点，而是逐步扩大“必须理解的工程上下文”。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35024"/>
            <a:ext cx="1051560" cy="41148"/>
          </a:xfrm>
          <a:prstGeom prst="rect">
            <a:avLst/>
          </a:prstGeom>
          <a:solidFill>
            <a:srgbClr val="EF9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49808" y="1920240"/>
            <a:ext cx="1572768" cy="96926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4467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066544"/>
            <a:ext cx="1335024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121820"/>
                </a:solidFill>
                <a:latin typeface="Noto Sans CJK SC"/>
                <a:ea typeface="Noto Sans CJK SC"/>
                <a:cs typeface="Microsoft YaHei"/>
              </a:rPr>
              <a:t>printcolor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377440"/>
            <a:ext cx="128016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80" b="0">
                <a:solidFill>
                  <a:srgbClr val="606F80"/>
                </a:solidFill>
                <a:latin typeface="Noto Sans CJK SC"/>
                <a:ea typeface="Noto Sans CJK SC"/>
                <a:cs typeface="Microsoft YaHei"/>
              </a:rPr>
              <a:t>应用输出
ANSI / println!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322576" y="2404872"/>
            <a:ext cx="475488" cy="0"/>
          </a:xfrm>
          <a:prstGeom prst="line">
            <a:avLst/>
          </a:prstGeom>
          <a:ln w="12700">
            <a:solidFill>
              <a:srgbClr val="606F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962656" y="1920240"/>
            <a:ext cx="1572768" cy="96926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0A6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81528" y="2066544"/>
            <a:ext cx="1335024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121820"/>
                </a:solidFill>
                <a:latin typeface="Noto Sans CJK SC"/>
                <a:ea typeface="Noto Sans CJK SC"/>
                <a:cs typeface="Microsoft YaHei"/>
              </a:rPr>
              <a:t>hashmap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2377440"/>
            <a:ext cx="128016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80" b="0">
                <a:solidFill>
                  <a:srgbClr val="606F80"/>
                </a:solidFill>
                <a:latin typeface="Noto Sans CJK SC"/>
                <a:ea typeface="Noto Sans CJK SC"/>
                <a:cs typeface="Microsoft YaHei"/>
              </a:rPr>
              <a:t>标准库外观
no_std collections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535424" y="2404872"/>
            <a:ext cx="475488" cy="0"/>
          </a:xfrm>
          <a:prstGeom prst="line">
            <a:avLst/>
          </a:prstGeom>
          <a:ln w="12700">
            <a:solidFill>
              <a:srgbClr val="606F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175504" y="1920240"/>
            <a:ext cx="1572768" cy="96926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2A3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94376" y="2066544"/>
            <a:ext cx="1335024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121820"/>
                </a:solidFill>
                <a:latin typeface="Noto Sans CJK SC"/>
                <a:ea typeface="Noto Sans CJK SC"/>
                <a:cs typeface="Microsoft YaHei"/>
              </a:rPr>
              <a:t>altalloc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21808" y="2377440"/>
            <a:ext cx="128016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80" b="0">
                <a:solidFill>
                  <a:srgbClr val="606F80"/>
                </a:solidFill>
                <a:latin typeface="Noto Sans CJK SC"/>
                <a:ea typeface="Noto Sans CJK SC"/>
                <a:cs typeface="Microsoft YaHei"/>
              </a:rPr>
              <a:t>内核资源
全局分配器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748272" y="2404872"/>
            <a:ext cx="475488" cy="0"/>
          </a:xfrm>
          <a:prstGeom prst="line">
            <a:avLst/>
          </a:prstGeom>
          <a:ln w="12700">
            <a:solidFill>
              <a:srgbClr val="606F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388352" y="1920240"/>
            <a:ext cx="1572768" cy="96926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F9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07224" y="2066544"/>
            <a:ext cx="1335024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121820"/>
                </a:solidFill>
                <a:latin typeface="Noto Sans CJK SC"/>
                <a:ea typeface="Noto Sans CJK SC"/>
                <a:cs typeface="Microsoft YaHei"/>
              </a:rPr>
              <a:t>ramfs rename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34656" y="2377440"/>
            <a:ext cx="128016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80" b="0">
                <a:solidFill>
                  <a:srgbClr val="606F80"/>
                </a:solidFill>
                <a:latin typeface="Noto Sans CJK SC"/>
                <a:ea typeface="Noto Sans CJK SC"/>
                <a:cs typeface="Microsoft YaHei"/>
              </a:rPr>
              <a:t>文件系统
VFS 转发语义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961120" y="2404872"/>
            <a:ext cx="475488" cy="0"/>
          </a:xfrm>
          <a:prstGeom prst="line">
            <a:avLst/>
          </a:prstGeom>
          <a:ln w="12700">
            <a:solidFill>
              <a:srgbClr val="606F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601200" y="1920240"/>
            <a:ext cx="1572768" cy="96926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7F53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20072" y="2066544"/>
            <a:ext cx="1335024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121820"/>
                </a:solidFill>
                <a:latin typeface="Noto Sans CJK SC"/>
                <a:ea typeface="Noto Sans CJK SC"/>
                <a:cs typeface="Microsoft YaHei"/>
              </a:rPr>
              <a:t>sysmap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47504" y="2377440"/>
            <a:ext cx="128016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80" b="0">
                <a:solidFill>
                  <a:srgbClr val="606F80"/>
                </a:solidFill>
                <a:latin typeface="Noto Sans CJK SC"/>
                <a:ea typeface="Noto Sans CJK SC"/>
                <a:cs typeface="Microsoft YaHei"/>
              </a:rPr>
              <a:t>用户态运行
ELF + mmap syscall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9808" y="3803904"/>
            <a:ext cx="3218688" cy="15727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49808" y="3803904"/>
            <a:ext cx="73152" cy="1572768"/>
          </a:xfrm>
          <a:prstGeom prst="rect">
            <a:avLst/>
          </a:prstGeom>
          <a:solidFill>
            <a:srgbClr val="446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7552" y="3968496"/>
            <a:ext cx="2834640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50" b="1">
                <a:solidFill>
                  <a:srgbClr val="121820"/>
                </a:solidFill>
                <a:latin typeface="Noto Sans CJK SC"/>
                <a:ea typeface="Noto Sans CJK SC"/>
                <a:cs typeface="Microsoft YaHei"/>
              </a:rPr>
              <a:t>传统 OS 课常见收获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4379976"/>
            <a:ext cx="2834640" cy="877824"/>
          </a:xfrm>
          <a:prstGeom prst="rect">
            <a:avLst/>
          </a:prstGeom>
          <a:noFill/>
        </p:spPr>
        <p:txBody>
          <a:bodyPr wrap="square" lIns="73152" rIns="54864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425"/>
              </a:spcAft>
            </a:pPr>
            <a:r>
              <a:rPr sz="1140" b="0">
                <a:solidFill>
                  <a:srgbClr val="212936"/>
                </a:solidFill>
                <a:latin typeface="Noto Sans CJK SC"/>
                <a:ea typeface="Noto Sans CJK SC"/>
                <a:cs typeface="Microsoft YaHei"/>
              </a:rPr>
              <a:t>理解进程、内存、文件系统、系统调用等概念模型</a:t>
            </a:r>
          </a:p>
          <a:p>
            <a:pPr>
              <a:lnSpc>
                <a:spcPct val="105000"/>
              </a:lnSpc>
              <a:spcAft>
                <a:spcPts val="425"/>
              </a:spcAft>
            </a:pPr>
            <a:r>
              <a:rPr sz="1140" b="0">
                <a:solidFill>
                  <a:srgbClr val="212936"/>
                </a:solidFill>
                <a:latin typeface="Noto Sans CJK SC"/>
                <a:ea typeface="Noto Sans CJK SC"/>
                <a:cs typeface="Microsoft YaHei"/>
              </a:rPr>
              <a:t>在教学内核中实现相对封闭的模块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407408" y="3803904"/>
            <a:ext cx="6876288" cy="15727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407408" y="3803904"/>
            <a:ext cx="73152" cy="1572768"/>
          </a:xfrm>
          <a:prstGeom prst="rect">
            <a:avLst/>
          </a:prstGeom>
          <a:solidFill>
            <a:srgbClr val="EF9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45152" y="3968496"/>
            <a:ext cx="6492240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50" b="1">
                <a:solidFill>
                  <a:srgbClr val="121820"/>
                </a:solidFill>
                <a:latin typeface="Noto Sans CJK SC"/>
                <a:ea typeface="Noto Sans CJK SC"/>
                <a:cs typeface="Microsoft YaHei"/>
              </a:rPr>
              <a:t>这组实验的独特收获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17720" y="4379976"/>
            <a:ext cx="6492240" cy="877824"/>
          </a:xfrm>
          <a:prstGeom prst="rect">
            <a:avLst/>
          </a:prstGeom>
          <a:noFill/>
        </p:spPr>
        <p:txBody>
          <a:bodyPr wrap="square" lIns="73152" rIns="54864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425"/>
              </a:spcAft>
            </a:pPr>
            <a:r>
              <a:rPr sz="1200" b="0">
                <a:solidFill>
                  <a:srgbClr val="212936"/>
                </a:solidFill>
                <a:latin typeface="Noto Sans CJK SC"/>
                <a:ea typeface="Noto Sans CJK SC"/>
                <a:cs typeface="Microsoft YaHei"/>
              </a:rPr>
              <a:t>要把概念落到真实 crate 依赖、feature、trait、linker、QEMU、串口日志、跨架构 ABI 和测试脚本上；问题不再停在“算法对不对”，而是“能否接入系统并长期维护”。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6510528"/>
            <a:ext cx="256032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50" b="0">
                <a:solidFill>
                  <a:srgbClr val="606F80"/>
                </a:solidFill>
                <a:latin typeface="Noto Sans CJK SC"/>
                <a:ea typeface="Noto Sans CJK SC"/>
                <a:cs typeface="Microsoft YaHei"/>
              </a:rPr>
              <a:t>AI-Harness 答辩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00232" y="6510528"/>
            <a:ext cx="694944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850" b="0">
                <a:solidFill>
                  <a:srgbClr val="606F80"/>
                </a:solidFill>
                <a:latin typeface="Noto Sans CJK SC"/>
                <a:ea typeface="Noto Sans CJK SC"/>
                <a:cs typeface="Microsoft YaHei"/>
              </a:rPr>
              <a:t>04/23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64592"/>
          </a:xfrm>
          <a:prstGeom prst="rect">
            <a:avLst/>
          </a:prstGeom>
          <a:solidFill>
            <a:srgbClr val="12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0" y="237744"/>
            <a:ext cx="228600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850" b="0">
                <a:solidFill>
                  <a:srgbClr val="606F80"/>
                </a:solidFill>
                <a:latin typeface="Noto Sans CJK SC"/>
                <a:ea typeface="Noto Sans CJK SC"/>
                <a:cs typeface="Microsoft YaHei"/>
              </a:rPr>
              <a:t>T1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29184"/>
            <a:ext cx="210312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50" b="1">
                <a:solidFill>
                  <a:srgbClr val="00A6B5"/>
                </a:solidFill>
                <a:latin typeface="Noto Sans CJK SC"/>
                <a:ea typeface="Noto Sans CJK SC"/>
                <a:cs typeface="Microsoft YaHei"/>
              </a:rPr>
              <a:t>TASK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30352"/>
            <a:ext cx="8046720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>
                <a:solidFill>
                  <a:srgbClr val="121820"/>
                </a:solidFill>
                <a:latin typeface="Noto Sans CJK SC"/>
                <a:ea typeface="Noto Sans CJK SC"/>
                <a:cs typeface="Microsoft YaHei"/>
              </a:rPr>
              <a:t>独特收获一：把 Rust 生态迁移到 no_std OS 环境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051560"/>
            <a:ext cx="8046720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0">
                <a:solidFill>
                  <a:srgbClr val="606F80"/>
                </a:solidFill>
                <a:latin typeface="Noto Sans CJK SC"/>
                <a:ea typeface="Noto Sans CJK SC"/>
                <a:cs typeface="Microsoft YaHei"/>
              </a:rPr>
              <a:t>HashMap 不是“会用集合”，而是让 axstd 具备接近 std 的 API 外观。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35024"/>
            <a:ext cx="1051560" cy="41148"/>
          </a:xfrm>
          <a:prstGeom prst="rect">
            <a:avLst/>
          </a:prstGeom>
          <a:solidFill>
            <a:srgbClr val="EF9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" y="1591056"/>
            <a:ext cx="3218688" cy="43159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591056"/>
            <a:ext cx="73152" cy="4315968"/>
          </a:xfrm>
          <a:prstGeom prst="rect">
            <a:avLst/>
          </a:prstGeom>
          <a:solidFill>
            <a:srgbClr val="446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755648"/>
            <a:ext cx="2834640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121820"/>
                </a:solidFill>
                <a:latin typeface="Noto Sans CJK SC"/>
                <a:ea typeface="Noto Sans CJK SC"/>
                <a:cs typeface="Microsoft YaHei"/>
              </a:rPr>
              <a:t>printcolor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167128"/>
            <a:ext cx="2834640" cy="3621024"/>
          </a:xfrm>
          <a:prstGeom prst="rect">
            <a:avLst/>
          </a:prstGeom>
          <a:noFill/>
        </p:spPr>
        <p:txBody>
          <a:bodyPr wrap="square" lIns="73152" rIns="54864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425"/>
              </a:spcAft>
            </a:pPr>
            <a:r>
              <a:rPr sz="1220" b="0">
                <a:solidFill>
                  <a:srgbClr val="212936"/>
                </a:solidFill>
                <a:latin typeface="Noto Sans CJK SC"/>
                <a:ea typeface="Noto Sans CJK SC"/>
                <a:cs typeface="Microsoft YaHei"/>
              </a:rPr>
              <a:t>理解 `println!` 在 axstd 中如何落到串口输出</a:t>
            </a:r>
          </a:p>
          <a:p>
            <a:pPr>
              <a:lnSpc>
                <a:spcPct val="105000"/>
              </a:lnSpc>
              <a:spcAft>
                <a:spcPts val="425"/>
              </a:spcAft>
            </a:pPr>
            <a:r>
              <a:rPr sz="1220" b="0">
                <a:solidFill>
                  <a:srgbClr val="212936"/>
                </a:solidFill>
                <a:latin typeface="Noto Sans CJK SC"/>
                <a:ea typeface="Noto Sans CJK SC"/>
                <a:cs typeface="Microsoft YaHei"/>
              </a:rPr>
              <a:t>ANSI SGR 序列让输出验证从文本变成字节级行为</a:t>
            </a:r>
          </a:p>
          <a:p>
            <a:pPr>
              <a:lnSpc>
                <a:spcPct val="105000"/>
              </a:lnSpc>
              <a:spcAft>
                <a:spcPts val="425"/>
              </a:spcAft>
            </a:pPr>
            <a:r>
              <a:rPr sz="1220" b="0">
                <a:solidFill>
                  <a:srgbClr val="212936"/>
                </a:solidFill>
                <a:latin typeface="Noto Sans CJK SC"/>
                <a:ea typeface="Noto Sans CJK SC"/>
                <a:cs typeface="Microsoft YaHei"/>
              </a:rPr>
              <a:t>提示：修改 axstd 与 axhal 会影响不同输出层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62272" y="1591056"/>
            <a:ext cx="3218688" cy="43159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62272" y="1591056"/>
            <a:ext cx="73152" cy="4315968"/>
          </a:xfrm>
          <a:prstGeom prst="rect">
            <a:avLst/>
          </a:prstGeom>
          <a:solidFill>
            <a:srgbClr val="00A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0016" y="1755648"/>
            <a:ext cx="2834640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121820"/>
                </a:solidFill>
                <a:latin typeface="Noto Sans CJK SC"/>
                <a:ea typeface="Noto Sans CJK SC"/>
                <a:cs typeface="Microsoft YaHei"/>
              </a:rPr>
              <a:t>hashmap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2584" y="2167128"/>
            <a:ext cx="2834640" cy="3621024"/>
          </a:xfrm>
          <a:prstGeom prst="rect">
            <a:avLst/>
          </a:prstGeom>
          <a:noFill/>
        </p:spPr>
        <p:txBody>
          <a:bodyPr wrap="square" lIns="73152" rIns="54864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425"/>
              </a:spcAft>
            </a:pPr>
            <a:r>
              <a:rPr sz="1220" b="0">
                <a:solidFill>
                  <a:srgbClr val="212936"/>
                </a:solidFill>
                <a:latin typeface="Noto Sans CJK SC"/>
                <a:ea typeface="Noto Sans CJK SC"/>
                <a:cs typeface="Microsoft YaHei"/>
              </a:rPr>
              <a:t>在 axstd 的 `collections` 中导出 HashMap / HashSet</a:t>
            </a:r>
          </a:p>
          <a:p>
            <a:pPr>
              <a:lnSpc>
                <a:spcPct val="105000"/>
              </a:lnSpc>
              <a:spcAft>
                <a:spcPts val="425"/>
              </a:spcAft>
            </a:pPr>
            <a:r>
              <a:rPr sz="1220" b="0">
                <a:solidFill>
                  <a:srgbClr val="212936"/>
                </a:solidFill>
                <a:latin typeface="Noto Sans CJK SC"/>
                <a:ea typeface="Noto Sans CJK SC"/>
                <a:cs typeface="Microsoft YaHei"/>
              </a:rPr>
              <a:t>引入 `hashbrown`，并处理 `default-hasher` 与 alloc 依赖</a:t>
            </a:r>
          </a:p>
          <a:p>
            <a:pPr>
              <a:lnSpc>
                <a:spcPct val="105000"/>
              </a:lnSpc>
              <a:spcAft>
                <a:spcPts val="425"/>
              </a:spcAft>
            </a:pPr>
            <a:r>
              <a:rPr sz="1220" b="0">
                <a:solidFill>
                  <a:srgbClr val="212936"/>
                </a:solidFill>
                <a:latin typeface="Noto Sans CJK SC"/>
                <a:ea typeface="Noto Sans CJK SC"/>
                <a:cs typeface="Microsoft YaHei"/>
              </a:rPr>
              <a:t>通过 50,000 个 key/value 验证分配器、格式化和迭代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66175" y="1591056"/>
            <a:ext cx="3218688" cy="43159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66175" y="1591056"/>
            <a:ext cx="73152" cy="4315968"/>
          </a:xfrm>
          <a:prstGeom prst="rect">
            <a:avLst/>
          </a:prstGeom>
          <a:solidFill>
            <a:srgbClr val="22A3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19" y="1755648"/>
            <a:ext cx="2834640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121820"/>
                </a:solidFill>
                <a:latin typeface="Noto Sans CJK SC"/>
                <a:ea typeface="Noto Sans CJK SC"/>
                <a:cs typeface="Microsoft YaHei"/>
              </a:rPr>
              <a:t>独特能力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76487" y="2167128"/>
            <a:ext cx="2834640" cy="3621024"/>
          </a:xfrm>
          <a:prstGeom prst="rect">
            <a:avLst/>
          </a:prstGeom>
          <a:noFill/>
        </p:spPr>
        <p:txBody>
          <a:bodyPr wrap="square" lIns="73152" rIns="54864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425"/>
              </a:spcAft>
            </a:pPr>
            <a:r>
              <a:rPr sz="1220" b="0">
                <a:solidFill>
                  <a:srgbClr val="212936"/>
                </a:solidFill>
                <a:latin typeface="Noto Sans CJK SC"/>
                <a:ea typeface="Noto Sans CJK SC"/>
                <a:cs typeface="Microsoft YaHei"/>
              </a:rPr>
              <a:t>理解 `extern crate axstd as std` 背后的兼容层</a:t>
            </a:r>
          </a:p>
          <a:p>
            <a:pPr>
              <a:lnSpc>
                <a:spcPct val="105000"/>
              </a:lnSpc>
              <a:spcAft>
                <a:spcPts val="425"/>
              </a:spcAft>
            </a:pPr>
            <a:r>
              <a:rPr sz="1220" b="0">
                <a:solidFill>
                  <a:srgbClr val="212936"/>
                </a:solidFill>
                <a:latin typeface="Noto Sans CJK SC"/>
                <a:ea typeface="Noto Sans CJK SC"/>
                <a:cs typeface="Microsoft YaHei"/>
              </a:rPr>
              <a:t>知道 crates.io 版本缺口如何用本地 path / patch 修补</a:t>
            </a:r>
          </a:p>
          <a:p>
            <a:pPr>
              <a:lnSpc>
                <a:spcPct val="105000"/>
              </a:lnSpc>
              <a:spcAft>
                <a:spcPts val="425"/>
              </a:spcAft>
            </a:pPr>
            <a:r>
              <a:rPr sz="1220" b="0">
                <a:solidFill>
                  <a:srgbClr val="212936"/>
                </a:solidFill>
                <a:latin typeface="Noto Sans CJK SC"/>
                <a:ea typeface="Noto Sans CJK SC"/>
                <a:cs typeface="Microsoft YaHei"/>
              </a:rPr>
              <a:t>学会在 no_std、alloc、随机数和平台 HAL 之间定位问题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510528"/>
            <a:ext cx="256032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50" b="0">
                <a:solidFill>
                  <a:srgbClr val="606F80"/>
                </a:solidFill>
                <a:latin typeface="Noto Sans CJK SC"/>
                <a:ea typeface="Noto Sans CJK SC"/>
                <a:cs typeface="Microsoft YaHei"/>
              </a:rPr>
              <a:t>AI-Harness 答辩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00232" y="6510528"/>
            <a:ext cx="694944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850" b="0">
                <a:solidFill>
                  <a:srgbClr val="606F80"/>
                </a:solidFill>
                <a:latin typeface="Noto Sans CJK SC"/>
                <a:ea typeface="Noto Sans CJK SC"/>
                <a:cs typeface="Microsoft YaHei"/>
              </a:rPr>
              <a:t>05/23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64592"/>
          </a:xfrm>
          <a:prstGeom prst="rect">
            <a:avLst/>
          </a:prstGeom>
          <a:solidFill>
            <a:srgbClr val="12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0" y="237744"/>
            <a:ext cx="228600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850" b="0">
                <a:solidFill>
                  <a:srgbClr val="606F80"/>
                </a:solidFill>
                <a:latin typeface="Noto Sans CJK SC"/>
                <a:ea typeface="Noto Sans CJK SC"/>
                <a:cs typeface="Microsoft YaHei"/>
              </a:rPr>
              <a:t>T1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29184"/>
            <a:ext cx="210312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50" b="1">
                <a:solidFill>
                  <a:srgbClr val="00A6B5"/>
                </a:solidFill>
                <a:latin typeface="Noto Sans CJK SC"/>
                <a:ea typeface="Noto Sans CJK SC"/>
                <a:cs typeface="Microsoft YaHei"/>
              </a:rPr>
              <a:t>TASK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30352"/>
            <a:ext cx="8046720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>
                <a:solidFill>
                  <a:srgbClr val="121820"/>
                </a:solidFill>
                <a:latin typeface="Noto Sans CJK SC"/>
                <a:ea typeface="Noto Sans CJK SC"/>
                <a:cs typeface="Microsoft YaHei"/>
              </a:rPr>
              <a:t>独特收获二：在真实 trait 边界里替换内核组件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051560"/>
            <a:ext cx="8046720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0">
                <a:solidFill>
                  <a:srgbClr val="606F80"/>
                </a:solidFill>
                <a:latin typeface="Noto Sans CJK SC"/>
                <a:ea typeface="Noto Sans CJK SC"/>
                <a:cs typeface="Microsoft YaHei"/>
              </a:rPr>
              <a:t>altalloc 和 ramfs-rename 都要求理解局部实现如何被上层全局机制调用。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35024"/>
            <a:ext cx="1051560" cy="41148"/>
          </a:xfrm>
          <a:prstGeom prst="rect">
            <a:avLst/>
          </a:prstGeom>
          <a:solidFill>
            <a:srgbClr val="EF9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" y="1627632"/>
            <a:ext cx="5138928" cy="41879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1627632"/>
            <a:ext cx="73152" cy="4187952"/>
          </a:xfrm>
          <a:prstGeom prst="rect">
            <a:avLst/>
          </a:prstGeom>
          <a:solidFill>
            <a:srgbClr val="22A3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1792224"/>
            <a:ext cx="4754880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21820"/>
                </a:solidFill>
                <a:latin typeface="Noto Sans CJK SC"/>
                <a:ea typeface="Noto Sans CJK SC"/>
                <a:cs typeface="Microsoft YaHei"/>
              </a:rPr>
              <a:t>altalloc：分配器不是一个孤立算法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2203704"/>
            <a:ext cx="4754880" cy="3493008"/>
          </a:xfrm>
          <a:prstGeom prst="rect">
            <a:avLst/>
          </a:prstGeom>
          <a:noFill/>
        </p:spPr>
        <p:txBody>
          <a:bodyPr wrap="square" lIns="73152" rIns="54864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425"/>
              </a:spcAft>
            </a:pPr>
            <a:r>
              <a:rPr sz="1230" b="0">
                <a:solidFill>
                  <a:srgbClr val="212936"/>
                </a:solidFill>
                <a:latin typeface="Noto Sans CJK SC"/>
                <a:ea typeface="Noto Sans CJK SC"/>
                <a:cs typeface="Microsoft YaHei"/>
              </a:rPr>
              <a:t>`bump_allocator::EarlyAllocator` 同时承担 byte allocator 与 page allocator</a:t>
            </a:r>
          </a:p>
          <a:p>
            <a:pPr>
              <a:lnSpc>
                <a:spcPct val="105000"/>
              </a:lnSpc>
              <a:spcAft>
                <a:spcPts val="425"/>
              </a:spcAft>
            </a:pPr>
            <a:r>
              <a:rPr sz="1230" b="0">
                <a:solidFill>
                  <a:srgbClr val="212936"/>
                </a:solidFill>
                <a:latin typeface="Noto Sans CJK SC"/>
                <a:ea typeface="Noto Sans CJK SC"/>
                <a:cs typeface="Microsoft YaHei"/>
              </a:rPr>
              <a:t>实现 `BaseAllocator`、`ByteAllocator`、`PageAllocator` 三组 trait</a:t>
            </a:r>
          </a:p>
          <a:p>
            <a:pPr>
              <a:lnSpc>
                <a:spcPct val="105000"/>
              </a:lnSpc>
              <a:spcAft>
                <a:spcPts val="425"/>
              </a:spcAft>
            </a:pPr>
            <a:r>
              <a:rPr sz="1230" b="0">
                <a:solidFill>
                  <a:srgbClr val="212936"/>
                </a:solidFill>
                <a:latin typeface="Noto Sans CJK SC"/>
                <a:ea typeface="Noto Sans CJK SC"/>
                <a:cs typeface="Microsoft YaHei"/>
              </a:rPr>
              <a:t>`axalloc` 通过 `[patch.crates-io]` 和 feature 默认选用本地 bump allocator</a:t>
            </a:r>
          </a:p>
          <a:p>
            <a:pPr>
              <a:lnSpc>
                <a:spcPct val="105000"/>
              </a:lnSpc>
              <a:spcAft>
                <a:spcPts val="425"/>
              </a:spcAft>
            </a:pPr>
            <a:r>
              <a:rPr sz="1230" b="0">
                <a:solidFill>
                  <a:srgbClr val="212936"/>
                </a:solidFill>
                <a:latin typeface="Noto Sans CJK SC"/>
                <a:ea typeface="Noto Sans CJK SC"/>
                <a:cs typeface="Microsoft YaHei"/>
              </a:rPr>
              <a:t>大 Vec + sort 压测暴露容量、对齐、回收计数和页分配边界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27648" y="1627632"/>
            <a:ext cx="5138928" cy="41879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27648" y="1627632"/>
            <a:ext cx="73152" cy="4187952"/>
          </a:xfrm>
          <a:prstGeom prst="rect">
            <a:avLst/>
          </a:prstGeom>
          <a:solidFill>
            <a:srgbClr val="EF9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65392" y="1792224"/>
            <a:ext cx="4754880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21820"/>
                </a:solidFill>
                <a:latin typeface="Noto Sans CJK SC"/>
                <a:ea typeface="Noto Sans CJK SC"/>
                <a:cs typeface="Microsoft YaHei"/>
              </a:rPr>
              <a:t>ramfs-rename：文件系统语义要走完整链路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203704"/>
            <a:ext cx="4754880" cy="3493008"/>
          </a:xfrm>
          <a:prstGeom prst="rect">
            <a:avLst/>
          </a:prstGeom>
          <a:noFill/>
        </p:spPr>
        <p:txBody>
          <a:bodyPr wrap="square" lIns="73152" rIns="54864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425"/>
              </a:spcAft>
            </a:pPr>
            <a:r>
              <a:rPr sz="1230" b="0">
                <a:solidFill>
                  <a:srgbClr val="212936"/>
                </a:solidFill>
                <a:latin typeface="Noto Sans CJK SC"/>
                <a:ea typeface="Noto Sans CJK SC"/>
                <a:cs typeface="Microsoft YaHei"/>
              </a:rPr>
              <a:t>`std::fs::rename` 经过 axstd/axfs 到 `axfs_ramfs`</a:t>
            </a:r>
          </a:p>
          <a:p>
            <a:pPr>
              <a:lnSpc>
                <a:spcPct val="105000"/>
              </a:lnSpc>
              <a:spcAft>
                <a:spcPts val="425"/>
              </a:spcAft>
            </a:pPr>
            <a:r>
              <a:rPr sz="1230" b="0">
                <a:solidFill>
                  <a:srgbClr val="212936"/>
                </a:solidFill>
                <a:latin typeface="Noto Sans CJK SC"/>
                <a:ea typeface="Noto Sans CJK SC"/>
                <a:cs typeface="Microsoft YaHei"/>
              </a:rPr>
              <a:t>补齐 `VfsNodeOps::rename`，并让 composite root 正确转发</a:t>
            </a:r>
          </a:p>
          <a:p>
            <a:pPr>
              <a:lnSpc>
                <a:spcPct val="105000"/>
              </a:lnSpc>
              <a:spcAft>
                <a:spcPts val="425"/>
              </a:spcAft>
            </a:pPr>
            <a:r>
              <a:rPr sz="1230" b="0">
                <a:solidFill>
                  <a:srgbClr val="212936"/>
                </a:solidFill>
                <a:latin typeface="Noto Sans CJK SC"/>
                <a:ea typeface="Noto Sans CJK SC"/>
                <a:cs typeface="Microsoft YaHei"/>
              </a:rPr>
              <a:t>限制同目录 rename，不把 move 语义误当成 rename</a:t>
            </a:r>
          </a:p>
          <a:p>
            <a:pPr>
              <a:lnSpc>
                <a:spcPct val="105000"/>
              </a:lnSpc>
              <a:spcAft>
                <a:spcPts val="425"/>
              </a:spcAft>
            </a:pPr>
            <a:r>
              <a:rPr sz="1230" b="0">
                <a:solidFill>
                  <a:srgbClr val="212936"/>
                </a:solidFill>
                <a:latin typeface="Noto Sans CJK SC"/>
                <a:ea typeface="Noto Sans CJK SC"/>
                <a:cs typeface="Microsoft YaHei"/>
              </a:rPr>
              <a:t>通过创建、写入、重命名、重新读回确认可见语义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510528"/>
            <a:ext cx="256032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50" b="0">
                <a:solidFill>
                  <a:srgbClr val="606F80"/>
                </a:solidFill>
                <a:latin typeface="Noto Sans CJK SC"/>
                <a:ea typeface="Noto Sans CJK SC"/>
                <a:cs typeface="Microsoft YaHei"/>
              </a:rPr>
              <a:t>AI-Harness 答辩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0232" y="6510528"/>
            <a:ext cx="694944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850" b="0">
                <a:solidFill>
                  <a:srgbClr val="606F80"/>
                </a:solidFill>
                <a:latin typeface="Noto Sans CJK SC"/>
                <a:ea typeface="Noto Sans CJK SC"/>
                <a:cs typeface="Microsoft YaHei"/>
              </a:rPr>
              <a:t>06/23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64592"/>
          </a:xfrm>
          <a:prstGeom prst="rect">
            <a:avLst/>
          </a:prstGeom>
          <a:solidFill>
            <a:srgbClr val="12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0" y="237744"/>
            <a:ext cx="228600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850" b="0">
                <a:solidFill>
                  <a:srgbClr val="606F80"/>
                </a:solidFill>
                <a:latin typeface="Noto Sans CJK SC"/>
                <a:ea typeface="Noto Sans CJK SC"/>
                <a:cs typeface="Microsoft YaHei"/>
              </a:rPr>
              <a:t>T1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29184"/>
            <a:ext cx="210312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50" b="1">
                <a:solidFill>
                  <a:srgbClr val="00A6B5"/>
                </a:solidFill>
                <a:latin typeface="Noto Sans CJK SC"/>
                <a:ea typeface="Noto Sans CJK SC"/>
                <a:cs typeface="Microsoft YaHei"/>
              </a:rPr>
              <a:t>TASK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30352"/>
            <a:ext cx="8046720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>
                <a:solidFill>
                  <a:srgbClr val="121820"/>
                </a:solidFill>
                <a:latin typeface="Noto Sans CJK SC"/>
                <a:ea typeface="Noto Sans CJK SC"/>
                <a:cs typeface="Microsoft YaHei"/>
              </a:rPr>
              <a:t>独特收获三：从内核进入用户态 ABI 与 Linux 语义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051560"/>
            <a:ext cx="8046720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0">
                <a:solidFill>
                  <a:srgbClr val="606F80"/>
                </a:solidFill>
                <a:latin typeface="Noto Sans CJK SC"/>
                <a:ea typeface="Noto Sans CJK SC"/>
                <a:cs typeface="Microsoft YaHei"/>
              </a:rPr>
              <a:t>sysmap 把课程里的 mmap 概念落实到 ELF、用户地址空间、trap 和文件 fd。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35024"/>
            <a:ext cx="1051560" cy="41148"/>
          </a:xfrm>
          <a:prstGeom prst="rect">
            <a:avLst/>
          </a:prstGeom>
          <a:solidFill>
            <a:srgbClr val="EF9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1664208"/>
            <a:ext cx="1408176" cy="89611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4467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810512"/>
            <a:ext cx="1170432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50" b="1">
                <a:solidFill>
                  <a:srgbClr val="121820"/>
                </a:solidFill>
                <a:latin typeface="Noto Sans CJK SC"/>
                <a:ea typeface="Noto Sans CJK SC"/>
                <a:cs typeface="Microsoft YaHei"/>
              </a:rPr>
              <a:t>musl payload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121408"/>
            <a:ext cx="1115568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80" b="0">
                <a:solidFill>
                  <a:srgbClr val="606F80"/>
                </a:solidFill>
                <a:latin typeface="Noto Sans CJK SC"/>
                <a:ea typeface="Noto Sans CJK SC"/>
                <a:cs typeface="Microsoft YaHei"/>
              </a:rPr>
              <a:t>mapfile.c
static ELF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975104" y="2112264"/>
            <a:ext cx="310896" cy="0"/>
          </a:xfrm>
          <a:prstGeom prst="line">
            <a:avLst/>
          </a:prstGeom>
          <a:ln w="12065">
            <a:solidFill>
              <a:srgbClr val="606F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441447" y="1664208"/>
            <a:ext cx="1408176" cy="89611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0A6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60319" y="1810512"/>
            <a:ext cx="1170432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50" b="1">
                <a:solidFill>
                  <a:srgbClr val="121820"/>
                </a:solidFill>
                <a:latin typeface="Noto Sans CJK SC"/>
                <a:ea typeface="Noto Sans CJK SC"/>
                <a:cs typeface="Microsoft YaHei"/>
              </a:rPr>
              <a:t>FAT32 disk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87751" y="2121408"/>
            <a:ext cx="1115568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80" b="0">
                <a:solidFill>
                  <a:srgbClr val="606F80"/>
                </a:solidFill>
                <a:latin typeface="Noto Sans CJK SC"/>
                <a:ea typeface="Noto Sans CJK SC"/>
                <a:cs typeface="Microsoft YaHei"/>
              </a:rPr>
              <a:t>/sbin/mapfile
virtio-blk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849623" y="2112264"/>
            <a:ext cx="310896" cy="0"/>
          </a:xfrm>
          <a:prstGeom prst="line">
            <a:avLst/>
          </a:prstGeom>
          <a:ln w="12065">
            <a:solidFill>
              <a:srgbClr val="606F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315967" y="1664208"/>
            <a:ext cx="1408176" cy="89611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2A3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4839" y="1810512"/>
            <a:ext cx="1170432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50" b="1">
                <a:solidFill>
                  <a:srgbClr val="121820"/>
                </a:solidFill>
                <a:latin typeface="Noto Sans CJK SC"/>
                <a:ea typeface="Noto Sans CJK SC"/>
                <a:cs typeface="Microsoft YaHei"/>
              </a:rPr>
              <a:t>ELF loader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62271" y="2121408"/>
            <a:ext cx="1115568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80" b="0">
                <a:solidFill>
                  <a:srgbClr val="606F80"/>
                </a:solidFill>
                <a:latin typeface="Noto Sans CJK SC"/>
                <a:ea typeface="Noto Sans CJK SC"/>
                <a:cs typeface="Microsoft YaHei"/>
              </a:rPr>
              <a:t>PT_LOAD
user stack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724143" y="2112264"/>
            <a:ext cx="310896" cy="0"/>
          </a:xfrm>
          <a:prstGeom prst="line">
            <a:avLst/>
          </a:prstGeom>
          <a:ln w="12065">
            <a:solidFill>
              <a:srgbClr val="606F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190487" y="1664208"/>
            <a:ext cx="1408176" cy="89611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F9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59" y="1810512"/>
            <a:ext cx="1170432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50" b="1">
                <a:solidFill>
                  <a:srgbClr val="121820"/>
                </a:solidFill>
                <a:latin typeface="Noto Sans CJK SC"/>
                <a:ea typeface="Noto Sans CJK SC"/>
                <a:cs typeface="Microsoft YaHei"/>
              </a:rPr>
              <a:t>trap loop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36791" y="2121408"/>
            <a:ext cx="1115568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80" b="0">
                <a:solidFill>
                  <a:srgbClr val="606F80"/>
                </a:solidFill>
                <a:latin typeface="Noto Sans CJK SC"/>
                <a:ea typeface="Noto Sans CJK SC"/>
                <a:cs typeface="Microsoft YaHei"/>
              </a:rPr>
              <a:t>UserContext
syscall dispatch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598663" y="2112264"/>
            <a:ext cx="310896" cy="0"/>
          </a:xfrm>
          <a:prstGeom prst="line">
            <a:avLst/>
          </a:prstGeom>
          <a:ln w="12065">
            <a:solidFill>
              <a:srgbClr val="606F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065007" y="1664208"/>
            <a:ext cx="1408176" cy="89611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7F53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83879" y="1810512"/>
            <a:ext cx="1170432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50" b="1">
                <a:solidFill>
                  <a:srgbClr val="121820"/>
                </a:solidFill>
                <a:latin typeface="Noto Sans CJK SC"/>
                <a:ea typeface="Noto Sans CJK SC"/>
                <a:cs typeface="Microsoft YaHei"/>
              </a:rPr>
              <a:t>SYS_MMAP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11311" y="2121408"/>
            <a:ext cx="1115568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80" b="0">
                <a:solidFill>
                  <a:srgbClr val="606F80"/>
                </a:solidFill>
                <a:latin typeface="Noto Sans CJK SC"/>
                <a:ea typeface="Noto Sans CJK SC"/>
                <a:cs typeface="Microsoft YaHei"/>
              </a:rPr>
              <a:t>file-backed
AddrSpace map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473183" y="2112264"/>
            <a:ext cx="310896" cy="0"/>
          </a:xfrm>
          <a:prstGeom prst="line">
            <a:avLst/>
          </a:prstGeom>
          <a:ln w="12065">
            <a:solidFill>
              <a:srgbClr val="606F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939528" y="1664208"/>
            <a:ext cx="1408176" cy="89611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2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0" y="1810512"/>
            <a:ext cx="1170432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50" b="1">
                <a:solidFill>
                  <a:srgbClr val="121820"/>
                </a:solidFill>
                <a:latin typeface="Noto Sans CJK SC"/>
                <a:ea typeface="Noto Sans CJK SC"/>
                <a:cs typeface="Microsoft YaHei"/>
              </a:rPr>
              <a:t>verification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85832" y="2121408"/>
            <a:ext cx="1115568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80" b="0">
                <a:solidFill>
                  <a:srgbClr val="606F80"/>
                </a:solidFill>
                <a:latin typeface="Noto Sans CJK SC"/>
                <a:ea typeface="Noto Sans CJK SC"/>
                <a:cs typeface="Microsoft YaHei"/>
              </a:rPr>
              <a:t>read back
MapFile ok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68096" y="3310128"/>
            <a:ext cx="5138928" cy="212140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68096" y="3310128"/>
            <a:ext cx="73152" cy="2121408"/>
          </a:xfrm>
          <a:prstGeom prst="rect">
            <a:avLst/>
          </a:prstGeom>
          <a:solidFill>
            <a:srgbClr val="7F53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840" y="3474720"/>
            <a:ext cx="4754880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21820"/>
                </a:solidFill>
                <a:latin typeface="Noto Sans CJK SC"/>
                <a:ea typeface="Noto Sans CJK SC"/>
                <a:cs typeface="Microsoft YaHei"/>
              </a:rPr>
              <a:t>实现重点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8408" y="3886200"/>
            <a:ext cx="4754880" cy="1426464"/>
          </a:xfrm>
          <a:prstGeom prst="rect">
            <a:avLst/>
          </a:prstGeom>
          <a:noFill/>
        </p:spPr>
        <p:txBody>
          <a:bodyPr wrap="square" lIns="73152" rIns="54864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425"/>
              </a:spcAft>
            </a:pPr>
            <a:r>
              <a:rPr sz="1220" b="0">
                <a:solidFill>
                  <a:srgbClr val="212936"/>
                </a:solidFill>
                <a:latin typeface="Noto Sans CJK SC"/>
                <a:ea typeface="Noto Sans CJK SC"/>
                <a:cs typeface="Microsoft YaHei"/>
              </a:rPr>
              <a:t>按架构读取 syscall number 与参数，按 Linux mmap ABI 返回结果</a:t>
            </a:r>
          </a:p>
          <a:p>
            <a:pPr>
              <a:lnSpc>
                <a:spcPct val="105000"/>
              </a:lnSpc>
              <a:spcAft>
                <a:spcPts val="425"/>
              </a:spcAft>
            </a:pPr>
            <a:r>
              <a:rPr sz="1220" b="0">
                <a:solidFill>
                  <a:srgbClr val="212936"/>
                </a:solidFill>
                <a:latin typeface="Noto Sans CJK SC"/>
                <a:ea typeface="Noto Sans CJK SC"/>
                <a:cs typeface="Microsoft YaHei"/>
              </a:rPr>
              <a:t>处理 PROT / MAP flags、页对齐、匿名映射、文件映射与 errno</a:t>
            </a:r>
          </a:p>
          <a:p>
            <a:pPr>
              <a:lnSpc>
                <a:spcPct val="105000"/>
              </a:lnSpc>
              <a:spcAft>
                <a:spcPts val="425"/>
              </a:spcAft>
            </a:pPr>
            <a:r>
              <a:rPr sz="1220" b="0">
                <a:solidFill>
                  <a:srgbClr val="212936"/>
                </a:solidFill>
                <a:latin typeface="Noto Sans CJK SC"/>
                <a:ea typeface="Noto Sans CJK SC"/>
                <a:cs typeface="Microsoft YaHei"/>
              </a:rPr>
              <a:t>通过 `USER_ASPACE` 写入映射内容，而不是只在内核缓冲区模拟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72784" y="3310128"/>
            <a:ext cx="5138928" cy="212140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72784" y="3310128"/>
            <a:ext cx="73152" cy="2121408"/>
          </a:xfrm>
          <a:prstGeom prst="rect">
            <a:avLst/>
          </a:prstGeom>
          <a:solidFill>
            <a:srgbClr val="00A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10528" y="3474720"/>
            <a:ext cx="4754880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21820"/>
                </a:solidFill>
                <a:latin typeface="Noto Sans CJK SC"/>
                <a:ea typeface="Noto Sans CJK SC"/>
                <a:cs typeface="Microsoft YaHei"/>
              </a:rPr>
              <a:t>区别于普通课程实验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83096" y="3886200"/>
            <a:ext cx="4754880" cy="1426464"/>
          </a:xfrm>
          <a:prstGeom prst="rect">
            <a:avLst/>
          </a:prstGeom>
          <a:noFill/>
        </p:spPr>
        <p:txBody>
          <a:bodyPr wrap="square" lIns="73152" rIns="54864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425"/>
              </a:spcAft>
            </a:pPr>
            <a:r>
              <a:rPr sz="1220" b="0">
                <a:solidFill>
                  <a:srgbClr val="212936"/>
                </a:solidFill>
                <a:latin typeface="Noto Sans CJK SC"/>
                <a:ea typeface="Noto Sans CJK SC"/>
                <a:cs typeface="Microsoft YaHei"/>
              </a:rPr>
              <a:t>需要处理真实 musl 程序的系统调用序列，而不是手写单个测试函数</a:t>
            </a:r>
          </a:p>
          <a:p>
            <a:pPr>
              <a:lnSpc>
                <a:spcPct val="105000"/>
              </a:lnSpc>
              <a:spcAft>
                <a:spcPts val="425"/>
              </a:spcAft>
            </a:pPr>
            <a:r>
              <a:rPr sz="1220" b="0">
                <a:solidFill>
                  <a:srgbClr val="212936"/>
                </a:solidFill>
                <a:latin typeface="Noto Sans CJK SC"/>
                <a:ea typeface="Noto Sans CJK SC"/>
                <a:cs typeface="Microsoft YaHei"/>
              </a:rPr>
              <a:t>跨架构 syscall number / register convention 会直接影响正确性</a:t>
            </a:r>
          </a:p>
          <a:p>
            <a:pPr>
              <a:lnSpc>
                <a:spcPct val="105000"/>
              </a:lnSpc>
              <a:spcAft>
                <a:spcPts val="425"/>
              </a:spcAft>
            </a:pPr>
            <a:r>
              <a:rPr sz="1220" b="0">
                <a:solidFill>
                  <a:srgbClr val="212936"/>
                </a:solidFill>
                <a:latin typeface="Noto Sans CJK SC"/>
                <a:ea typeface="Noto Sans CJK SC"/>
                <a:cs typeface="Microsoft YaHei"/>
              </a:rPr>
              <a:t>文件系统、内存管理和任务切换必须在同一个可运行镜像里闭合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" y="6510528"/>
            <a:ext cx="256032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50" b="0">
                <a:solidFill>
                  <a:srgbClr val="606F80"/>
                </a:solidFill>
                <a:latin typeface="Noto Sans CJK SC"/>
                <a:ea typeface="Noto Sans CJK SC"/>
                <a:cs typeface="Microsoft YaHei"/>
              </a:rPr>
              <a:t>AI-Harness 答辩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00232" y="6510528"/>
            <a:ext cx="694944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850" b="0">
                <a:solidFill>
                  <a:srgbClr val="606F80"/>
                </a:solidFill>
                <a:latin typeface="Noto Sans CJK SC"/>
                <a:ea typeface="Noto Sans CJK SC"/>
                <a:cs typeface="Microsoft YaHei"/>
              </a:rPr>
              <a:t>07/23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64592"/>
          </a:xfrm>
          <a:prstGeom prst="rect">
            <a:avLst/>
          </a:prstGeom>
          <a:solidFill>
            <a:srgbClr val="12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0" y="237744"/>
            <a:ext cx="228600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850" b="0">
                <a:solidFill>
                  <a:srgbClr val="606F80"/>
                </a:solidFill>
                <a:latin typeface="Noto Sans CJK SC"/>
                <a:ea typeface="Noto Sans CJK SC"/>
                <a:cs typeface="Microsoft YaHei"/>
              </a:rPr>
              <a:t>T1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29184"/>
            <a:ext cx="210312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50" b="1">
                <a:solidFill>
                  <a:srgbClr val="00A6B5"/>
                </a:solidFill>
                <a:latin typeface="Noto Sans CJK SC"/>
                <a:ea typeface="Noto Sans CJK SC"/>
                <a:cs typeface="Microsoft YaHei"/>
              </a:rPr>
              <a:t>TASK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30352"/>
            <a:ext cx="8046720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>
                <a:solidFill>
                  <a:srgbClr val="121820"/>
                </a:solidFill>
                <a:latin typeface="Noto Sans CJK SC"/>
                <a:ea typeface="Noto Sans CJK SC"/>
                <a:cs typeface="Microsoft YaHei"/>
              </a:rPr>
              <a:t>任务一验证方式：面向真实运行，而不是只看单元测试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051560"/>
            <a:ext cx="8046720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0">
                <a:solidFill>
                  <a:srgbClr val="606F80"/>
                </a:solidFill>
                <a:latin typeface="Noto Sans CJK SC"/>
                <a:ea typeface="Noto Sans CJK SC"/>
                <a:cs typeface="Microsoft YaHei"/>
              </a:rPr>
              <a:t>每个 exercise 都通过 `cargo xtask run` 构建裸机镜像、启动 QEMU、检查串口输出。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35024"/>
            <a:ext cx="1051560" cy="41148"/>
          </a:xfrm>
          <a:prstGeom prst="rect">
            <a:avLst/>
          </a:prstGeom>
          <a:solidFill>
            <a:srgbClr val="EF9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49808" y="1700784"/>
            <a:ext cx="2286000" cy="16276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50976" y="1920240"/>
            <a:ext cx="164592" cy="164592"/>
          </a:xfrm>
          <a:prstGeom prst="ellipse">
            <a:avLst/>
          </a:prstGeom>
          <a:solidFill>
            <a:srgbClr val="00A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194560"/>
            <a:ext cx="1883664" cy="49377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21820"/>
                </a:solidFill>
                <a:latin typeface="Noto Sans CJK SC"/>
                <a:ea typeface="Noto Sans CJK SC"/>
                <a:cs typeface="Microsoft YaHei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" y="2724912"/>
            <a:ext cx="1847088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1">
                <a:solidFill>
                  <a:srgbClr val="212936"/>
                </a:solidFill>
                <a:latin typeface="Noto Sans CJK SC"/>
                <a:ea typeface="Noto Sans CJK SC"/>
                <a:cs typeface="Microsoft YaHei"/>
              </a:rPr>
              <a:t>standalone exercises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" y="3054096"/>
            <a:ext cx="1847088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50" b="0">
                <a:solidFill>
                  <a:srgbClr val="606F80"/>
                </a:solidFill>
                <a:latin typeface="Noto Sans CJK SC"/>
                <a:ea typeface="Noto Sans CJK SC"/>
                <a:cs typeface="Microsoft YaHei"/>
              </a:rPr>
              <a:t>独立 Cargo 项目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73552" y="1700784"/>
            <a:ext cx="2286000" cy="16276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474720" y="1920240"/>
            <a:ext cx="164592" cy="164592"/>
          </a:xfrm>
          <a:prstGeom prst="ellipse">
            <a:avLst/>
          </a:prstGeom>
          <a:solidFill>
            <a:srgbClr val="446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0" y="2194560"/>
            <a:ext cx="1883664" cy="49377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21820"/>
                </a:solidFill>
                <a:latin typeface="Noto Sans CJK SC"/>
                <a:ea typeface="Noto Sans CJK SC"/>
                <a:cs typeface="Microsoft YaHe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93008" y="2724912"/>
            <a:ext cx="1847088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1">
                <a:solidFill>
                  <a:srgbClr val="212936"/>
                </a:solidFill>
                <a:latin typeface="Noto Sans CJK SC"/>
                <a:ea typeface="Noto Sans CJK SC"/>
                <a:cs typeface="Microsoft YaHei"/>
              </a:rPr>
              <a:t>target architectures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93008" y="3054096"/>
            <a:ext cx="1847088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50" b="0">
                <a:solidFill>
                  <a:srgbClr val="606F80"/>
                </a:solidFill>
                <a:latin typeface="Noto Sans CJK SC"/>
                <a:ea typeface="Noto Sans CJK SC"/>
                <a:cs typeface="Microsoft YaHei"/>
              </a:rPr>
              <a:t>rv64 / x86 / arm64 / loongarch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97296" y="1700784"/>
            <a:ext cx="2286000" cy="16276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998464" y="1920240"/>
            <a:ext cx="164592" cy="164592"/>
          </a:xfrm>
          <a:prstGeom prst="ellipse">
            <a:avLst/>
          </a:prstGeom>
          <a:solidFill>
            <a:srgbClr val="EF9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98464" y="2194560"/>
            <a:ext cx="1883664" cy="49377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21820"/>
                </a:solidFill>
                <a:latin typeface="Noto Sans CJK SC"/>
                <a:ea typeface="Noto Sans CJK SC"/>
                <a:cs typeface="Microsoft YaHei"/>
              </a:rPr>
              <a:t>QEMU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16752" y="2724912"/>
            <a:ext cx="1847088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1">
                <a:solidFill>
                  <a:srgbClr val="212936"/>
                </a:solidFill>
                <a:latin typeface="Noto Sans CJK SC"/>
                <a:ea typeface="Noto Sans CJK SC"/>
                <a:cs typeface="Microsoft YaHei"/>
              </a:rPr>
              <a:t>runtime check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16752" y="3054096"/>
            <a:ext cx="1847088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50" b="0">
                <a:solidFill>
                  <a:srgbClr val="606F80"/>
                </a:solidFill>
                <a:latin typeface="Noto Sans CJK SC"/>
                <a:ea typeface="Noto Sans CJK SC"/>
                <a:cs typeface="Microsoft YaHei"/>
              </a:rPr>
              <a:t>serial-output oracle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21040" y="1700784"/>
            <a:ext cx="2286000" cy="16276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522208" y="1920240"/>
            <a:ext cx="164592" cy="164592"/>
          </a:xfrm>
          <a:prstGeom prst="ellipse">
            <a:avLst/>
          </a:prstGeom>
          <a:solidFill>
            <a:srgbClr val="22A3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22208" y="2194560"/>
            <a:ext cx="1883664" cy="49377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21820"/>
                </a:solidFill>
                <a:latin typeface="Noto Sans CJK SC"/>
                <a:ea typeface="Noto Sans CJK SC"/>
                <a:cs typeface="Microsoft YaHei"/>
              </a:rPr>
              <a:t>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40496" y="2724912"/>
            <a:ext cx="1847088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1">
                <a:solidFill>
                  <a:srgbClr val="212936"/>
                </a:solidFill>
                <a:latin typeface="Noto Sans CJK SC"/>
                <a:ea typeface="Noto Sans CJK SC"/>
                <a:cs typeface="Microsoft YaHei"/>
              </a:rPr>
              <a:t>representative run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40496" y="3054096"/>
            <a:ext cx="1847088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50" b="0">
                <a:solidFill>
                  <a:srgbClr val="606F80"/>
                </a:solidFill>
                <a:latin typeface="Noto Sans CJK SC"/>
                <a:ea typeface="Noto Sans CJK SC"/>
                <a:cs typeface="Microsoft YaHei"/>
              </a:rPr>
              <a:t>printcolor/riscv64 in Docker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32688" y="3858768"/>
            <a:ext cx="10021824" cy="124358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32688" y="3858768"/>
            <a:ext cx="73152" cy="1243584"/>
          </a:xfrm>
          <a:prstGeom prst="rect">
            <a:avLst/>
          </a:prstGeom>
          <a:solidFill>
            <a:srgbClr val="22A3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70432" y="4023360"/>
            <a:ext cx="9637776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21820"/>
                </a:solidFill>
                <a:latin typeface="Noto Sans CJK SC"/>
                <a:ea typeface="Noto Sans CJK SC"/>
                <a:cs typeface="Microsoft YaHei"/>
              </a:rPr>
              <a:t>验证信号示例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" y="4434840"/>
            <a:ext cx="9637776" cy="548640"/>
          </a:xfrm>
          <a:prstGeom prst="rect">
            <a:avLst/>
          </a:prstGeom>
          <a:noFill/>
        </p:spPr>
        <p:txBody>
          <a:bodyPr wrap="square" lIns="73152" rIns="54864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425"/>
              </a:spcAft>
            </a:pPr>
            <a:r>
              <a:rPr sz="1210" b="0">
                <a:solidFill>
                  <a:srgbClr val="212936"/>
                </a:solidFill>
                <a:latin typeface="Noto Sans CJK SC"/>
                <a:ea typeface="Noto Sans CJK SC"/>
                <a:cs typeface="Microsoft YaHei"/>
              </a:rPr>
              <a:t>`Hello, Arceos!` + ANSI SGR、`test_hashmap() OK!`、`Bump tests run OK!`、`[Ramfs-Rename]: ok!`、`Read back content: hello, arceos!` + `MapFile ok!`。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9536" y="5669280"/>
            <a:ext cx="1051560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121820"/>
                </a:solidFill>
                <a:latin typeface="Noto Sans CJK SC"/>
                <a:ea typeface="Noto Sans CJK SC"/>
                <a:cs typeface="Microsoft YaHei"/>
              </a:rPr>
              <a:t>这类验证强迫我们同时关心编译目标、链接脚本、镜像格式、QEMU 参数、串口日志和跨架构差异，训练的是 OS 工程交付能力。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6510528"/>
            <a:ext cx="256032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50" b="0">
                <a:solidFill>
                  <a:srgbClr val="606F80"/>
                </a:solidFill>
                <a:latin typeface="Noto Sans CJK SC"/>
                <a:ea typeface="Noto Sans CJK SC"/>
                <a:cs typeface="Microsoft YaHei"/>
              </a:rPr>
              <a:t>AI-Harness 答辩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00232" y="6510528"/>
            <a:ext cx="694944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850" b="0">
                <a:solidFill>
                  <a:srgbClr val="606F80"/>
                </a:solidFill>
                <a:latin typeface="Noto Sans CJK SC"/>
                <a:ea typeface="Noto Sans CJK SC"/>
                <a:cs typeface="Microsoft YaHei"/>
              </a:rPr>
              <a:t>08/23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64592"/>
          </a:xfrm>
          <a:prstGeom prst="rect">
            <a:avLst/>
          </a:prstGeom>
          <a:solidFill>
            <a:srgbClr val="12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0" y="237744"/>
            <a:ext cx="228600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850" b="0">
                <a:solidFill>
                  <a:srgbClr val="606F80"/>
                </a:solidFill>
                <a:latin typeface="Noto Sans CJK SC"/>
                <a:ea typeface="Noto Sans CJK SC"/>
                <a:cs typeface="Microsoft YaHei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29184"/>
            <a:ext cx="210312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50" b="1">
                <a:solidFill>
                  <a:srgbClr val="00A6B5"/>
                </a:solidFill>
                <a:latin typeface="Noto Sans CJK SC"/>
                <a:ea typeface="Noto Sans CJK SC"/>
                <a:cs typeface="Microsoft YaHei"/>
              </a:rPr>
              <a:t>TASK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30352"/>
            <a:ext cx="8046720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>
                <a:solidFill>
                  <a:srgbClr val="121820"/>
                </a:solidFill>
                <a:latin typeface="Noto Sans CJK SC"/>
                <a:ea typeface="Noto Sans CJK SC"/>
                <a:cs typeface="Microsoft YaHei"/>
              </a:rPr>
              <a:t>任务二背景：StarryOS 兼容与性能问题越来越难靠人工闭环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051560"/>
            <a:ext cx="8046720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0">
                <a:solidFill>
                  <a:srgbClr val="606F80"/>
                </a:solidFill>
                <a:latin typeface="Noto Sans CJK SC"/>
                <a:ea typeface="Noto Sans CJK SC"/>
                <a:cs typeface="Microsoft YaHei"/>
              </a:rPr>
              <a:t>Linux 兼容目标下，细粒度语义差异和运行时热点都需要可复现证据。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35024"/>
            <a:ext cx="1051560" cy="41148"/>
          </a:xfrm>
          <a:prstGeom prst="rect">
            <a:avLst/>
          </a:prstGeom>
          <a:solidFill>
            <a:srgbClr val="EF9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" y="1719072"/>
            <a:ext cx="5230368" cy="40416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1719072"/>
            <a:ext cx="73152" cy="4041648"/>
          </a:xfrm>
          <a:prstGeom prst="rect">
            <a:avLst/>
          </a:prstGeom>
          <a:solidFill>
            <a:srgbClr val="00A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1883664"/>
            <a:ext cx="4846320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1">
                <a:solidFill>
                  <a:srgbClr val="121820"/>
                </a:solidFill>
                <a:latin typeface="Noto Sans CJK SC"/>
                <a:ea typeface="Noto Sans CJK SC"/>
                <a:cs typeface="Microsoft YaHei"/>
              </a:rPr>
              <a:t>Syscall 语义兼容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2295144"/>
            <a:ext cx="4846320" cy="3346704"/>
          </a:xfrm>
          <a:prstGeom prst="rect">
            <a:avLst/>
          </a:prstGeom>
          <a:noFill/>
        </p:spPr>
        <p:txBody>
          <a:bodyPr wrap="square" lIns="73152" rIns="54864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425"/>
              </a:spcAft>
            </a:pPr>
            <a:r>
              <a:rPr sz="1500" b="0">
                <a:solidFill>
                  <a:srgbClr val="212936"/>
                </a:solidFill>
                <a:latin typeface="Noto Sans CJK SC"/>
                <a:ea typeface="Noto Sans CJK SC"/>
                <a:cs typeface="Microsoft YaHei"/>
              </a:rPr>
              <a:t>错误返回值、errno、flag 校验顺序会直接影响应用行为</a:t>
            </a:r>
          </a:p>
          <a:p>
            <a:pPr>
              <a:lnSpc>
                <a:spcPct val="105000"/>
              </a:lnSpc>
              <a:spcAft>
                <a:spcPts val="425"/>
              </a:spcAft>
            </a:pPr>
            <a:r>
              <a:rPr sz="1500" b="0">
                <a:solidFill>
                  <a:srgbClr val="212936"/>
                </a:solidFill>
                <a:latin typeface="Noto Sans CJK SC"/>
                <a:ea typeface="Noto Sans CJK SC"/>
                <a:cs typeface="Microsoft YaHei"/>
              </a:rPr>
              <a:t>边界条件分散在 fd、路径、权限、信号和内存等路径中</a:t>
            </a:r>
          </a:p>
          <a:p>
            <a:pPr>
              <a:lnSpc>
                <a:spcPct val="105000"/>
              </a:lnSpc>
              <a:spcAft>
                <a:spcPts val="425"/>
              </a:spcAft>
            </a:pPr>
            <a:r>
              <a:rPr sz="1500" b="0">
                <a:solidFill>
                  <a:srgbClr val="212936"/>
                </a:solidFill>
                <a:latin typeface="Noto Sans CJK SC"/>
                <a:ea typeface="Noto Sans CJK SC"/>
                <a:cs typeface="Microsoft YaHei"/>
              </a:rPr>
              <a:t>只看源码难以判断 Linux 真实行为</a:t>
            </a:r>
          </a:p>
          <a:p>
            <a:pPr>
              <a:lnSpc>
                <a:spcPct val="105000"/>
              </a:lnSpc>
              <a:spcAft>
                <a:spcPts val="425"/>
              </a:spcAft>
            </a:pPr>
            <a:r>
              <a:rPr sz="1500" b="0">
                <a:solidFill>
                  <a:srgbClr val="212936"/>
                </a:solidFill>
                <a:latin typeface="Noto Sans CJK SC"/>
                <a:ea typeface="Noto Sans CJK SC"/>
                <a:cs typeface="Microsoft YaHei"/>
              </a:rPr>
              <a:t>修复后必须重新对拍，不能靠改弱测试通过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4496" y="1719072"/>
            <a:ext cx="5230368" cy="40416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54496" y="1719072"/>
            <a:ext cx="73152" cy="4041648"/>
          </a:xfrm>
          <a:prstGeom prst="rect">
            <a:avLst/>
          </a:prstGeom>
          <a:solidFill>
            <a:srgbClr val="EF9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883664"/>
            <a:ext cx="4846320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1">
                <a:solidFill>
                  <a:srgbClr val="121820"/>
                </a:solidFill>
                <a:latin typeface="Noto Sans CJK SC"/>
                <a:ea typeface="Noto Sans CJK SC"/>
                <a:cs typeface="Microsoft YaHei"/>
              </a:rPr>
              <a:t>qperf 性能定位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8" y="2295144"/>
            <a:ext cx="4846320" cy="3346704"/>
          </a:xfrm>
          <a:prstGeom prst="rect">
            <a:avLst/>
          </a:prstGeom>
          <a:noFill/>
        </p:spPr>
        <p:txBody>
          <a:bodyPr wrap="square" lIns="73152" rIns="54864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425"/>
              </a:spcAft>
            </a:pPr>
            <a:r>
              <a:rPr sz="1500" b="0">
                <a:solidFill>
                  <a:srgbClr val="212936"/>
                </a:solidFill>
                <a:latin typeface="Noto Sans CJK SC"/>
                <a:ea typeface="Noto Sans CJK SC"/>
                <a:cs typeface="Microsoft YaHei"/>
              </a:rPr>
              <a:t>热点可能分布在 VirtIO、内存映射、调度、锁与 copy 路径</a:t>
            </a:r>
          </a:p>
          <a:p>
            <a:pPr>
              <a:lnSpc>
                <a:spcPct val="105000"/>
              </a:lnSpc>
              <a:spcAft>
                <a:spcPts val="425"/>
              </a:spcAft>
            </a:pPr>
            <a:r>
              <a:rPr sz="1500" b="0">
                <a:solidFill>
                  <a:srgbClr val="212936"/>
                </a:solidFill>
                <a:latin typeface="Noto Sans CJK SC"/>
                <a:ea typeface="Noto Sans CJK SC"/>
                <a:cs typeface="Microsoft YaHei"/>
              </a:rPr>
              <a:t>优化不能只依赖直觉，需要样本、火焰图和 diff</a:t>
            </a:r>
          </a:p>
          <a:p>
            <a:pPr>
              <a:lnSpc>
                <a:spcPct val="105000"/>
              </a:lnSpc>
              <a:spcAft>
                <a:spcPts val="425"/>
              </a:spcAft>
            </a:pPr>
            <a:r>
              <a:rPr sz="1500" b="0">
                <a:solidFill>
                  <a:srgbClr val="212936"/>
                </a:solidFill>
                <a:latin typeface="Noto Sans CJK SC"/>
                <a:ea typeface="Noto Sans CJK SC"/>
                <a:cs typeface="Microsoft YaHei"/>
              </a:rPr>
              <a:t>采样结果要能保存、比较、复查，并进入 PR 证据链</a:t>
            </a:r>
          </a:p>
          <a:p>
            <a:pPr>
              <a:lnSpc>
                <a:spcPct val="105000"/>
              </a:lnSpc>
              <a:spcAft>
                <a:spcPts val="425"/>
              </a:spcAft>
            </a:pPr>
            <a:r>
              <a:rPr sz="1500" b="0">
                <a:solidFill>
                  <a:srgbClr val="212936"/>
                </a:solidFill>
                <a:latin typeface="Noto Sans CJK SC"/>
                <a:ea typeface="Noto Sans CJK SC"/>
                <a:cs typeface="Microsoft YaHei"/>
              </a:rPr>
              <a:t>agent 需要结构化输入，而不是一次性命令输出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989320"/>
            <a:ext cx="1056132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121820"/>
                </a:solidFill>
                <a:latin typeface="Noto Sans CJK SC"/>
                <a:ea typeface="Noto Sans CJK SC"/>
                <a:cs typeface="Microsoft YaHei"/>
              </a:rPr>
              <a:t>核心矛盾：要让 AI 自动做开发，必须先把“发现问题 -&gt; 形成证据 -&gt; 定位代码 -&gt; 验证回归”做成稳定接口。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510528"/>
            <a:ext cx="256032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50" b="0">
                <a:solidFill>
                  <a:srgbClr val="606F80"/>
                </a:solidFill>
                <a:latin typeface="Noto Sans CJK SC"/>
                <a:ea typeface="Noto Sans CJK SC"/>
                <a:cs typeface="Microsoft YaHei"/>
              </a:rPr>
              <a:t>AI-Harness 答辩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0232" y="6510528"/>
            <a:ext cx="694944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850" b="0">
                <a:solidFill>
                  <a:srgbClr val="606F80"/>
                </a:solidFill>
                <a:latin typeface="Noto Sans CJK SC"/>
                <a:ea typeface="Noto Sans CJK SC"/>
                <a:cs typeface="Microsoft YaHei"/>
              </a:rPr>
              <a:t>09/23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64592"/>
          </a:xfrm>
          <a:prstGeom prst="rect">
            <a:avLst/>
          </a:prstGeom>
          <a:solidFill>
            <a:srgbClr val="12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0" y="237744"/>
            <a:ext cx="228600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850" b="0">
                <a:solidFill>
                  <a:srgbClr val="606F80"/>
                </a:solidFill>
                <a:latin typeface="Noto Sans CJK SC"/>
                <a:ea typeface="Noto Sans CJK SC"/>
                <a:cs typeface="Microsoft YaHei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29184"/>
            <a:ext cx="210312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50" b="1">
                <a:solidFill>
                  <a:srgbClr val="00A6B5"/>
                </a:solidFill>
                <a:latin typeface="Noto Sans CJK SC"/>
                <a:ea typeface="Noto Sans CJK SC"/>
                <a:cs typeface="Microsoft YaHei"/>
              </a:rPr>
              <a:t>TASK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30352"/>
            <a:ext cx="8046720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>
                <a:solidFill>
                  <a:srgbClr val="121820"/>
                </a:solidFill>
                <a:latin typeface="Noto Sans CJK SC"/>
                <a:ea typeface="Noto Sans CJK SC"/>
                <a:cs typeface="Microsoft YaHei"/>
              </a:rPr>
              <a:t>任务二设计目标：自动化，但不牺牲可信性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051560"/>
            <a:ext cx="8046720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0">
                <a:solidFill>
                  <a:srgbClr val="606F80"/>
                </a:solidFill>
                <a:latin typeface="Noto Sans CJK SC"/>
                <a:ea typeface="Noto Sans CJK SC"/>
                <a:cs typeface="Microsoft YaHei"/>
              </a:rPr>
              <a:t>框架不是脚本集合，而是面向 agent 和人工协作的开发平台。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35024"/>
            <a:ext cx="1051560" cy="41148"/>
          </a:xfrm>
          <a:prstGeom prst="rect">
            <a:avLst/>
          </a:prstGeom>
          <a:solidFill>
            <a:srgbClr val="EF9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94944" y="1719072"/>
            <a:ext cx="3328416" cy="14813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94944" y="1719072"/>
            <a:ext cx="73152" cy="1481328"/>
          </a:xfrm>
          <a:prstGeom prst="rect">
            <a:avLst/>
          </a:prstGeom>
          <a:solidFill>
            <a:srgbClr val="00A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883664"/>
            <a:ext cx="2944368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21820"/>
                </a:solidFill>
                <a:latin typeface="Noto Sans CJK SC"/>
                <a:ea typeface="Noto Sans CJK SC"/>
                <a:cs typeface="Microsoft YaHei"/>
              </a:rPr>
              <a:t>自动化调用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2295144"/>
            <a:ext cx="2944368" cy="786384"/>
          </a:xfrm>
          <a:prstGeom prst="rect">
            <a:avLst/>
          </a:prstGeom>
          <a:noFill/>
        </p:spPr>
        <p:txBody>
          <a:bodyPr wrap="square" lIns="73152" rIns="54864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425"/>
              </a:spcAft>
            </a:pPr>
            <a:r>
              <a:rPr sz="1240" b="0">
                <a:solidFill>
                  <a:srgbClr val="212936"/>
                </a:solidFill>
                <a:latin typeface="Noto Sans CJK SC"/>
                <a:ea typeface="Noto Sans CJK SC"/>
                <a:cs typeface="Microsoft YaHei"/>
              </a:rPr>
              <a:t>CLI/MCP 默认入口；无需人工点击即可批量扫描、采样、生成报告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43983" y="1719072"/>
            <a:ext cx="3328416" cy="14813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43983" y="1719072"/>
            <a:ext cx="73152" cy="1481328"/>
          </a:xfrm>
          <a:prstGeom prst="rect">
            <a:avLst/>
          </a:prstGeom>
          <a:solidFill>
            <a:srgbClr val="22A3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81727" y="1883664"/>
            <a:ext cx="2944368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21820"/>
                </a:solidFill>
                <a:latin typeface="Noto Sans CJK SC"/>
                <a:ea typeface="Noto Sans CJK SC"/>
                <a:cs typeface="Microsoft YaHei"/>
              </a:rPr>
              <a:t>可信基线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54295" y="2295144"/>
            <a:ext cx="2944368" cy="786384"/>
          </a:xfrm>
          <a:prstGeom prst="rect">
            <a:avLst/>
          </a:prstGeom>
          <a:noFill/>
        </p:spPr>
        <p:txBody>
          <a:bodyPr wrap="square" lIns="73152" rIns="54864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425"/>
              </a:spcAft>
            </a:pPr>
            <a:r>
              <a:rPr sz="1240" b="0">
                <a:solidFill>
                  <a:srgbClr val="212936"/>
                </a:solidFill>
                <a:latin typeface="Noto Sans CJK SC"/>
                <a:ea typeface="Noto Sans CJK SC"/>
                <a:cs typeface="Microsoft YaHei"/>
              </a:rPr>
              <a:t>Linux probe 输出作为 syscall 参考；StarryOS 构建和 QEMU 统一在 Docker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93023" y="1719072"/>
            <a:ext cx="3328416" cy="14813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93023" y="1719072"/>
            <a:ext cx="73152" cy="1481328"/>
          </a:xfrm>
          <a:prstGeom prst="rect">
            <a:avLst/>
          </a:prstGeom>
          <a:solidFill>
            <a:srgbClr val="EF9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30767" y="1883664"/>
            <a:ext cx="2944368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21820"/>
                </a:solidFill>
                <a:latin typeface="Noto Sans CJK SC"/>
                <a:ea typeface="Noto Sans CJK SC"/>
                <a:cs typeface="Microsoft YaHei"/>
              </a:rPr>
              <a:t>证据落盘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03335" y="2295144"/>
            <a:ext cx="2944368" cy="786384"/>
          </a:xfrm>
          <a:prstGeom prst="rect">
            <a:avLst/>
          </a:prstGeom>
          <a:noFill/>
        </p:spPr>
        <p:txBody>
          <a:bodyPr wrap="square" lIns="73152" rIns="54864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425"/>
              </a:spcAft>
            </a:pPr>
            <a:r>
              <a:rPr sz="1240" b="0">
                <a:solidFill>
                  <a:srgbClr val="212936"/>
                </a:solidFill>
                <a:latin typeface="Noto Sans CJK SC"/>
                <a:ea typeface="Noto Sans CJK SC"/>
                <a:cs typeface="Microsoft YaHei"/>
              </a:rPr>
              <a:t>JSON / Markdown / CSV / SVG / logs 全部保留，便于复核和 PR 说明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4944" y="3621024"/>
            <a:ext cx="3328416" cy="14813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94944" y="3621024"/>
            <a:ext cx="73152" cy="1481328"/>
          </a:xfrm>
          <a:prstGeom prst="rect">
            <a:avLst/>
          </a:prstGeom>
          <a:solidFill>
            <a:srgbClr val="446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" y="3785616"/>
            <a:ext cx="2944368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21820"/>
                </a:solidFill>
                <a:latin typeface="Noto Sans CJK SC"/>
                <a:ea typeface="Noto Sans CJK SC"/>
                <a:cs typeface="Microsoft YaHei"/>
              </a:rPr>
              <a:t>可交互观察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" y="4197096"/>
            <a:ext cx="2944368" cy="786384"/>
          </a:xfrm>
          <a:prstGeom prst="rect">
            <a:avLst/>
          </a:prstGeom>
          <a:noFill/>
        </p:spPr>
        <p:txBody>
          <a:bodyPr wrap="square" lIns="73152" rIns="54864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425"/>
              </a:spcAft>
            </a:pPr>
            <a:r>
              <a:rPr sz="1240" b="0">
                <a:solidFill>
                  <a:srgbClr val="212936"/>
                </a:solidFill>
                <a:latin typeface="Noto Sans CJK SC"/>
                <a:ea typeface="Noto Sans CJK SC"/>
                <a:cs typeface="Microsoft YaHei"/>
              </a:rPr>
              <a:t>本地 Web UI 可看任务、报告、flamegraph 和 artifact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43983" y="3621024"/>
            <a:ext cx="3328416" cy="14813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43983" y="3621024"/>
            <a:ext cx="73152" cy="1481328"/>
          </a:xfrm>
          <a:prstGeom prst="rect">
            <a:avLst/>
          </a:prstGeom>
          <a:solidFill>
            <a:srgbClr val="7F53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81727" y="3785616"/>
            <a:ext cx="2944368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21820"/>
                </a:solidFill>
                <a:latin typeface="Noto Sans CJK SC"/>
                <a:ea typeface="Noto Sans CJK SC"/>
                <a:cs typeface="Microsoft YaHei"/>
              </a:rPr>
              <a:t>真实 PR 流程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54295" y="4197096"/>
            <a:ext cx="2944368" cy="786384"/>
          </a:xfrm>
          <a:prstGeom prst="rect">
            <a:avLst/>
          </a:prstGeom>
          <a:noFill/>
        </p:spPr>
        <p:txBody>
          <a:bodyPr wrap="square" lIns="73152" rIns="54864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425"/>
              </a:spcAft>
            </a:pPr>
            <a:r>
              <a:rPr sz="1240" b="0">
                <a:solidFill>
                  <a:srgbClr val="212936"/>
                </a:solidFill>
                <a:latin typeface="Noto Sans CJK SC"/>
                <a:ea typeface="Noto Sans CJK SC"/>
                <a:cs typeface="Microsoft YaHei"/>
              </a:rPr>
              <a:t>fetch/rebase、验证命令、关键结果与风险点进入 PR 描述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5449824"/>
            <a:ext cx="4297680" cy="5303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121820"/>
                </a:solidFill>
                <a:latin typeface="Noto Sans CJK SC"/>
                <a:ea typeface="Noto Sans CJK SC"/>
                <a:cs typeface="Microsoft YaHei"/>
              </a:rPr>
              <a:t>交付形态：CLI harness + MCP server + Codex skill + Local UI + Docker 执行边界 + 结构化报告。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6510528"/>
            <a:ext cx="256032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50" b="0">
                <a:solidFill>
                  <a:srgbClr val="606F80"/>
                </a:solidFill>
                <a:latin typeface="Noto Sans CJK SC"/>
                <a:ea typeface="Noto Sans CJK SC"/>
                <a:cs typeface="Microsoft YaHei"/>
              </a:rPr>
              <a:t>AI-Harness 答辩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00232" y="6510528"/>
            <a:ext cx="694944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850" b="0">
                <a:solidFill>
                  <a:srgbClr val="606F80"/>
                </a:solidFill>
                <a:latin typeface="Noto Sans CJK SC"/>
                <a:ea typeface="Noto Sans CJK SC"/>
                <a:cs typeface="Microsoft YaHei"/>
              </a:rPr>
              <a:t>10/23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64592"/>
          </a:xfrm>
          <a:prstGeom prst="rect">
            <a:avLst/>
          </a:prstGeom>
          <a:solidFill>
            <a:srgbClr val="12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0" y="237744"/>
            <a:ext cx="228600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850" b="0">
                <a:solidFill>
                  <a:srgbClr val="606F80"/>
                </a:solidFill>
                <a:latin typeface="Noto Sans CJK SC"/>
                <a:ea typeface="Noto Sans CJK SC"/>
                <a:cs typeface="Microsoft YaHei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29184"/>
            <a:ext cx="210312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50" b="1">
                <a:solidFill>
                  <a:srgbClr val="00A6B5"/>
                </a:solidFill>
                <a:latin typeface="Noto Sans CJK SC"/>
                <a:ea typeface="Noto Sans CJK SC"/>
                <a:cs typeface="Microsoft YaHei"/>
              </a:rPr>
              <a:t>TASK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30352"/>
            <a:ext cx="8046720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>
                <a:solidFill>
                  <a:srgbClr val="121820"/>
                </a:solidFill>
                <a:latin typeface="Noto Sans CJK SC"/>
                <a:ea typeface="Noto Sans CJK SC"/>
                <a:cs typeface="Microsoft YaHei"/>
              </a:rPr>
              <a:t>任务二总体架构：agent 不直接拼复杂构建命令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051560"/>
            <a:ext cx="8046720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0">
                <a:solidFill>
                  <a:srgbClr val="606F80"/>
                </a:solidFill>
                <a:latin typeface="Noto Sans CJK SC"/>
                <a:ea typeface="Noto Sans CJK SC"/>
                <a:cs typeface="Microsoft YaHei"/>
              </a:rPr>
              <a:t>harness 负责参数规范化、Docker 重入、输出目录管理、报告生成与 artifact 回收。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35024"/>
            <a:ext cx="1051560" cy="41148"/>
          </a:xfrm>
          <a:prstGeom prst="rect">
            <a:avLst/>
          </a:prstGeom>
          <a:solidFill>
            <a:srgbClr val="EF9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69264" y="1572768"/>
            <a:ext cx="8138160" cy="621792"/>
          </a:xfrm>
          <a:prstGeom prst="roundRect">
            <a:avLst/>
          </a:prstGeom>
          <a:solidFill>
            <a:srgbClr val="E5EAFF"/>
          </a:solidFill>
          <a:ln w="12700">
            <a:solidFill>
              <a:srgbClr val="4467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1682496"/>
            <a:ext cx="310896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50" b="1">
                <a:solidFill>
                  <a:srgbClr val="121820"/>
                </a:solidFill>
                <a:latin typeface="Noto Sans CJK SC"/>
                <a:ea typeface="Noto Sans CJK SC"/>
                <a:cs typeface="Microsoft YaHei"/>
              </a:rPr>
              <a:t>Agent / Human Operator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06824" y="1700784"/>
            <a:ext cx="457200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20" b="0">
                <a:solidFill>
                  <a:srgbClr val="212936"/>
                </a:solidFill>
                <a:latin typeface="Noto Sans CJK SC"/>
                <a:ea typeface="Noto Sans CJK SC"/>
                <a:cs typeface="Microsoft YaHei"/>
              </a:rPr>
              <a:t>MCP 自动调用 | CLI 直接调用 | Local Web UI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038344" y="2194560"/>
            <a:ext cx="0" cy="128016"/>
          </a:xfrm>
          <a:prstGeom prst="line">
            <a:avLst/>
          </a:prstGeom>
          <a:ln w="12700">
            <a:solidFill>
              <a:srgbClr val="4467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69264" y="2322576"/>
            <a:ext cx="8138160" cy="621792"/>
          </a:xfrm>
          <a:prstGeom prst="roundRect">
            <a:avLst/>
          </a:prstGeom>
          <a:solidFill>
            <a:srgbClr val="D5F5F7"/>
          </a:solidFill>
          <a:ln w="12700">
            <a:solidFill>
              <a:srgbClr val="00A6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2432304"/>
            <a:ext cx="310896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50" b="1">
                <a:solidFill>
                  <a:srgbClr val="121820"/>
                </a:solidFill>
                <a:latin typeface="Noto Sans CJK SC"/>
                <a:ea typeface="Noto Sans CJK SC"/>
                <a:cs typeface="Microsoft YaHei"/>
              </a:rPr>
              <a:t>Harness Entry Points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6824" y="2450592"/>
            <a:ext cx="457200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20" b="0">
                <a:solidFill>
                  <a:srgbClr val="212936"/>
                </a:solidFill>
                <a:latin typeface="Noto Sans CJK SC"/>
                <a:ea typeface="Noto Sans CJK SC"/>
                <a:cs typeface="Microsoft YaHei"/>
              </a:rPr>
              <a:t>harness.py | mcp_server.py | ui_server.py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038344" y="2944368"/>
            <a:ext cx="0" cy="128016"/>
          </a:xfrm>
          <a:prstGeom prst="line">
            <a:avLst/>
          </a:prstGeom>
          <a:ln w="12700">
            <a:solidFill>
              <a:srgbClr val="00A6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69264" y="3072384"/>
            <a:ext cx="8138160" cy="621792"/>
          </a:xfrm>
          <a:prstGeom prst="roundRect">
            <a:avLst/>
          </a:prstGeom>
          <a:solidFill>
            <a:srgbClr val="DEF7EB"/>
          </a:solidFill>
          <a:ln w="12700">
            <a:solidFill>
              <a:srgbClr val="22A3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3182112"/>
            <a:ext cx="310896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50" b="1">
                <a:solidFill>
                  <a:srgbClr val="121820"/>
                </a:solidFill>
                <a:latin typeface="Noto Sans CJK SC"/>
                <a:ea typeface="Noto Sans CJK SC"/>
                <a:cs typeface="Microsoft YaHei"/>
              </a:rPr>
              <a:t>Docker Execution Boundary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06824" y="3200400"/>
            <a:ext cx="457200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20" b="0">
                <a:solidFill>
                  <a:srgbClr val="212936"/>
                </a:solidFill>
                <a:latin typeface="Noto Sans CJK SC"/>
                <a:ea typeface="Noto Sans CJK SC"/>
                <a:cs typeface="Microsoft YaHei"/>
              </a:rPr>
              <a:t>ghcr.io/rcore-os/tgoskits-container:latest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038344" y="3694176"/>
            <a:ext cx="0" cy="128016"/>
          </a:xfrm>
          <a:prstGeom prst="line">
            <a:avLst/>
          </a:prstGeom>
          <a:ln w="12700">
            <a:solidFill>
              <a:srgbClr val="22A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69264" y="3822192"/>
            <a:ext cx="8138160" cy="621792"/>
          </a:xfrm>
          <a:prstGeom prst="roundRect">
            <a:avLst/>
          </a:prstGeom>
          <a:solidFill>
            <a:srgbClr val="FFEFD5"/>
          </a:solidFill>
          <a:ln w="12700">
            <a:solidFill>
              <a:srgbClr val="EF9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88720" y="3931920"/>
            <a:ext cx="310896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50" b="1">
                <a:solidFill>
                  <a:srgbClr val="121820"/>
                </a:solidFill>
                <a:latin typeface="Noto Sans CJK SC"/>
                <a:ea typeface="Noto Sans CJK SC"/>
                <a:cs typeface="Microsoft YaHei"/>
              </a:rPr>
              <a:t>Syscall Differential Engine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06824" y="3950208"/>
            <a:ext cx="457200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20" b="0">
                <a:solidFill>
                  <a:srgbClr val="212936"/>
                </a:solidFill>
                <a:latin typeface="Noto Sans CJK SC"/>
                <a:ea typeface="Noto Sans CJK SC"/>
                <a:cs typeface="Microsoft YaHei"/>
              </a:rPr>
              <a:t>Linux probe vs StarryOS probe | CASE parser | report.json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038344" y="4443984"/>
            <a:ext cx="0" cy="128016"/>
          </a:xfrm>
          <a:prstGeom prst="line">
            <a:avLst/>
          </a:prstGeom>
          <a:ln w="12700">
            <a:solidFill>
              <a:srgbClr val="EF9F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69264" y="4572000"/>
            <a:ext cx="8138160" cy="621792"/>
          </a:xfrm>
          <a:prstGeom prst="roundRect">
            <a:avLst/>
          </a:prstGeom>
          <a:solidFill>
            <a:srgbClr val="EFE8F7"/>
          </a:solidFill>
          <a:ln w="12700">
            <a:solidFill>
              <a:srgbClr val="7F53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88720" y="4681728"/>
            <a:ext cx="310896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50" b="1">
                <a:solidFill>
                  <a:srgbClr val="121820"/>
                </a:solidFill>
                <a:latin typeface="Noto Sans CJK SC"/>
                <a:ea typeface="Noto Sans CJK SC"/>
                <a:cs typeface="Microsoft YaHei"/>
              </a:rPr>
              <a:t>qperf Performance Engine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06824" y="4700016"/>
            <a:ext cx="457200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20" b="0">
                <a:solidFill>
                  <a:srgbClr val="212936"/>
                </a:solidFill>
                <a:latin typeface="Noto Sans CJK SC"/>
                <a:ea typeface="Noto Sans CJK SC"/>
                <a:cs typeface="Microsoft YaHei"/>
              </a:rPr>
              <a:t>TCG plugin | analyzer | folded stack | flamegraph | diff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038344" y="5193792"/>
            <a:ext cx="0" cy="128016"/>
          </a:xfrm>
          <a:prstGeom prst="line">
            <a:avLst/>
          </a:prstGeom>
          <a:ln w="12700">
            <a:solidFill>
              <a:srgbClr val="7F53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69264" y="5321807"/>
            <a:ext cx="813816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88720" y="5431535"/>
            <a:ext cx="310896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50" b="1">
                <a:solidFill>
                  <a:srgbClr val="121820"/>
                </a:solidFill>
                <a:latin typeface="Noto Sans CJK SC"/>
                <a:ea typeface="Noto Sans CJK SC"/>
                <a:cs typeface="Microsoft YaHei"/>
              </a:rPr>
              <a:t>Reports And Feedback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06824" y="5449823"/>
            <a:ext cx="457200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20" b="0">
                <a:solidFill>
                  <a:srgbClr val="212936"/>
                </a:solidFill>
                <a:latin typeface="Noto Sans CJK SC"/>
                <a:ea typeface="Noto Sans CJK SC"/>
                <a:cs typeface="Microsoft YaHei"/>
              </a:rPr>
              <a:t>JSON | Markdown | CSV | SVG | logs | PR evidence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454896" y="1700784"/>
            <a:ext cx="1993392" cy="316382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454896" y="1700784"/>
            <a:ext cx="73152" cy="3163824"/>
          </a:xfrm>
          <a:prstGeom prst="rect">
            <a:avLst/>
          </a:prstGeom>
          <a:solidFill>
            <a:srgbClr val="00A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92640" y="1865376"/>
            <a:ext cx="1609344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21820"/>
                </a:solidFill>
                <a:latin typeface="Noto Sans CJK SC"/>
                <a:ea typeface="Noto Sans CJK SC"/>
                <a:cs typeface="Microsoft YaHei"/>
              </a:rPr>
              <a:t>关键抽象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65208" y="2276856"/>
            <a:ext cx="1609344" cy="2468880"/>
          </a:xfrm>
          <a:prstGeom prst="rect">
            <a:avLst/>
          </a:prstGeom>
          <a:noFill/>
        </p:spPr>
        <p:txBody>
          <a:bodyPr wrap="square" lIns="73152" rIns="54864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425"/>
              </a:spcAft>
            </a:pPr>
            <a:r>
              <a:rPr sz="1060" b="0">
                <a:solidFill>
                  <a:srgbClr val="212936"/>
                </a:solidFill>
                <a:latin typeface="Noto Sans CJK SC"/>
                <a:ea typeface="Noto Sans CJK SC"/>
                <a:cs typeface="Microsoft YaHei"/>
              </a:rPr>
              <a:t>稳定入口：harness.py</a:t>
            </a:r>
          </a:p>
          <a:p>
            <a:pPr>
              <a:lnSpc>
                <a:spcPct val="105000"/>
              </a:lnSpc>
              <a:spcAft>
                <a:spcPts val="425"/>
              </a:spcAft>
            </a:pPr>
            <a:r>
              <a:rPr sz="1060" b="0">
                <a:solidFill>
                  <a:srgbClr val="212936"/>
                </a:solidFill>
                <a:latin typeface="Noto Sans CJK SC"/>
                <a:ea typeface="Noto Sans CJK SC"/>
                <a:cs typeface="Microsoft YaHei"/>
              </a:rPr>
              <a:t>隔离边界：Docker</a:t>
            </a:r>
          </a:p>
          <a:p>
            <a:pPr>
              <a:lnSpc>
                <a:spcPct val="105000"/>
              </a:lnSpc>
              <a:spcAft>
                <a:spcPts val="425"/>
              </a:spcAft>
            </a:pPr>
            <a:r>
              <a:rPr sz="1060" b="0">
                <a:solidFill>
                  <a:srgbClr val="212936"/>
                </a:solidFill>
                <a:latin typeface="Noto Sans CJK SC"/>
                <a:ea typeface="Noto Sans CJK SC"/>
                <a:cs typeface="Microsoft YaHei"/>
              </a:rPr>
              <a:t>机器可读：report.json</a:t>
            </a:r>
          </a:p>
          <a:p>
            <a:pPr>
              <a:lnSpc>
                <a:spcPct val="105000"/>
              </a:lnSpc>
              <a:spcAft>
                <a:spcPts val="425"/>
              </a:spcAft>
            </a:pPr>
            <a:r>
              <a:rPr sz="1060" b="0">
                <a:solidFill>
                  <a:srgbClr val="212936"/>
                </a:solidFill>
                <a:latin typeface="Noto Sans CJK SC"/>
                <a:ea typeface="Noto Sans CJK SC"/>
                <a:cs typeface="Microsoft YaHei"/>
              </a:rPr>
              <a:t>人可读：UI + flamegraph</a:t>
            </a:r>
          </a:p>
          <a:p>
            <a:pPr>
              <a:lnSpc>
                <a:spcPct val="105000"/>
              </a:lnSpc>
              <a:spcAft>
                <a:spcPts val="425"/>
              </a:spcAft>
            </a:pPr>
            <a:r>
              <a:rPr sz="1060" b="0">
                <a:solidFill>
                  <a:srgbClr val="212936"/>
                </a:solidFill>
                <a:latin typeface="Noto Sans CJK SC"/>
                <a:ea typeface="Noto Sans CJK SC"/>
                <a:cs typeface="Microsoft YaHei"/>
              </a:rPr>
              <a:t>协作闭环：PR evidence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6510528"/>
            <a:ext cx="256032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50" b="0">
                <a:solidFill>
                  <a:srgbClr val="606F80"/>
                </a:solidFill>
                <a:latin typeface="Noto Sans CJK SC"/>
                <a:ea typeface="Noto Sans CJK SC"/>
                <a:cs typeface="Microsoft YaHei"/>
              </a:rPr>
              <a:t>AI-Harness 答辩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00232" y="6510528"/>
            <a:ext cx="694944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850" b="0">
                <a:solidFill>
                  <a:srgbClr val="606F80"/>
                </a:solidFill>
                <a:latin typeface="Noto Sans CJK SC"/>
                <a:ea typeface="Noto Sans CJK SC"/>
                <a:cs typeface="Microsoft YaHei"/>
              </a:rPr>
              <a:t>11/23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64592"/>
          </a:xfrm>
          <a:prstGeom prst="rect">
            <a:avLst/>
          </a:prstGeom>
          <a:solidFill>
            <a:srgbClr val="12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0" y="237744"/>
            <a:ext cx="228600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850" b="0">
                <a:solidFill>
                  <a:srgbClr val="606F80"/>
                </a:solidFill>
                <a:latin typeface="Noto Sans CJK SC"/>
                <a:ea typeface="Noto Sans CJK SC"/>
                <a:cs typeface="Microsoft YaHei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29184"/>
            <a:ext cx="210312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50" b="1">
                <a:solidFill>
                  <a:srgbClr val="00A6B5"/>
                </a:solidFill>
                <a:latin typeface="Noto Sans CJK SC"/>
                <a:ea typeface="Noto Sans CJK SC"/>
                <a:cs typeface="Microsoft YaHei"/>
              </a:rPr>
              <a:t>SYSCALL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30352"/>
            <a:ext cx="8046720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>
                <a:solidFill>
                  <a:srgbClr val="121820"/>
                </a:solidFill>
                <a:latin typeface="Noto Sans CJK SC"/>
                <a:ea typeface="Noto Sans CJK SC"/>
                <a:cs typeface="Microsoft YaHei"/>
              </a:rPr>
              <a:t>Syscall 对拍闭环：同一份 probe，Linux 作为语义基线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051560"/>
            <a:ext cx="8046720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0">
                <a:solidFill>
                  <a:srgbClr val="606F80"/>
                </a:solidFill>
                <a:latin typeface="Noto Sans CJK SC"/>
                <a:ea typeface="Noto Sans CJK SC"/>
                <a:cs typeface="Microsoft YaHei"/>
              </a:rPr>
              <a:t>输出稳定 CASE key=value 行，避免 fd、地址、时间戳等非确定信息进入比较。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35024"/>
            <a:ext cx="1051560" cy="41148"/>
          </a:xfrm>
          <a:prstGeom prst="rect">
            <a:avLst/>
          </a:prstGeom>
          <a:solidFill>
            <a:srgbClr val="EF9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" y="1719072"/>
            <a:ext cx="1664208" cy="950976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4467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865376"/>
            <a:ext cx="1426464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20" b="1">
                <a:solidFill>
                  <a:srgbClr val="121820"/>
                </a:solidFill>
                <a:latin typeface="Noto Sans CJK SC"/>
                <a:ea typeface="Noto Sans CJK SC"/>
                <a:cs typeface="Microsoft YaHei"/>
              </a:rPr>
              <a:t>写入 probe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176272"/>
            <a:ext cx="1371600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80" b="0">
                <a:solidFill>
                  <a:srgbClr val="606F80"/>
                </a:solidFill>
                <a:latin typeface="Noto Sans CJK SC"/>
                <a:ea typeface="Noto Sans CJK SC"/>
                <a:cs typeface="Microsoft YaHei"/>
              </a:rPr>
              <a:t>syscall_probe.c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322576" y="2194560"/>
            <a:ext cx="219456" cy="0"/>
          </a:xfrm>
          <a:prstGeom prst="line">
            <a:avLst/>
          </a:prstGeom>
          <a:ln w="13970">
            <a:solidFill>
              <a:srgbClr val="606F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542032" y="1719072"/>
            <a:ext cx="1664208" cy="950976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2A3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60904" y="1865376"/>
            <a:ext cx="1426464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20" b="1">
                <a:solidFill>
                  <a:srgbClr val="121820"/>
                </a:solidFill>
                <a:latin typeface="Noto Sans CJK SC"/>
                <a:ea typeface="Noto Sans CJK SC"/>
                <a:cs typeface="Microsoft YaHei"/>
              </a:rPr>
              <a:t>Linux 执行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88336" y="2176272"/>
            <a:ext cx="1371600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80" b="0">
                <a:solidFill>
                  <a:srgbClr val="606F80"/>
                </a:solidFill>
                <a:latin typeface="Noto Sans CJK SC"/>
                <a:ea typeface="Noto Sans CJK SC"/>
                <a:cs typeface="Microsoft YaHei"/>
              </a:rPr>
              <a:t>生成参考输出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206240" y="2194560"/>
            <a:ext cx="219456" cy="0"/>
          </a:xfrm>
          <a:prstGeom prst="line">
            <a:avLst/>
          </a:prstGeom>
          <a:ln w="13970">
            <a:solidFill>
              <a:srgbClr val="606F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425696" y="1719072"/>
            <a:ext cx="1664208" cy="950976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0A6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44568" y="1865376"/>
            <a:ext cx="1426464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20" b="1">
                <a:solidFill>
                  <a:srgbClr val="121820"/>
                </a:solidFill>
                <a:latin typeface="Noto Sans CJK SC"/>
                <a:ea typeface="Noto Sans CJK SC"/>
                <a:cs typeface="Microsoft YaHei"/>
              </a:rPr>
              <a:t>StarryOS 构建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176272"/>
            <a:ext cx="1371600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80" b="0">
                <a:solidFill>
                  <a:srgbClr val="606F80"/>
                </a:solidFill>
                <a:latin typeface="Noto Sans CJK SC"/>
                <a:ea typeface="Noto Sans CJK SC"/>
                <a:cs typeface="Microsoft YaHei"/>
              </a:rPr>
              <a:t>rootfs + debugfs 注入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089904" y="2194560"/>
            <a:ext cx="219456" cy="0"/>
          </a:xfrm>
          <a:prstGeom prst="line">
            <a:avLst/>
          </a:prstGeom>
          <a:ln w="13970">
            <a:solidFill>
              <a:srgbClr val="606F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309360" y="1719072"/>
            <a:ext cx="1664208" cy="950976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F9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28232" y="1865376"/>
            <a:ext cx="1426464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20" b="1">
                <a:solidFill>
                  <a:srgbClr val="121820"/>
                </a:solidFill>
                <a:latin typeface="Noto Sans CJK SC"/>
                <a:ea typeface="Noto Sans CJK SC"/>
                <a:cs typeface="Microsoft YaHei"/>
              </a:rPr>
              <a:t>QEMU 运行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55664" y="2176272"/>
            <a:ext cx="1371600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80" b="0">
                <a:solidFill>
                  <a:srgbClr val="606F80"/>
                </a:solidFill>
                <a:latin typeface="Noto Sans CJK SC"/>
                <a:ea typeface="Noto Sans CJK SC"/>
                <a:cs typeface="Microsoft YaHei"/>
              </a:rPr>
              <a:t>捕获 begin/end marker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973568" y="2194560"/>
            <a:ext cx="219456" cy="0"/>
          </a:xfrm>
          <a:prstGeom prst="line">
            <a:avLst/>
          </a:prstGeom>
          <a:ln w="13970">
            <a:solidFill>
              <a:srgbClr val="606F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193024" y="1719072"/>
            <a:ext cx="1664208" cy="950976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7F53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11896" y="1865376"/>
            <a:ext cx="1426464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20" b="1">
                <a:solidFill>
                  <a:srgbClr val="121820"/>
                </a:solidFill>
                <a:latin typeface="Noto Sans CJK SC"/>
                <a:ea typeface="Noto Sans CJK SC"/>
                <a:cs typeface="Microsoft YaHei"/>
              </a:rPr>
              <a:t>CASE 解析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39328" y="2176272"/>
            <a:ext cx="1371600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80" b="0">
                <a:solidFill>
                  <a:srgbClr val="606F80"/>
                </a:solidFill>
                <a:latin typeface="Noto Sans CJK SC"/>
                <a:ea typeface="Noto Sans CJK SC"/>
                <a:cs typeface="Microsoft YaHei"/>
              </a:rPr>
              <a:t>ANSI 清理 + key/value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857232" y="2194560"/>
            <a:ext cx="219456" cy="0"/>
          </a:xfrm>
          <a:prstGeom prst="line">
            <a:avLst/>
          </a:prstGeom>
          <a:ln w="13970">
            <a:solidFill>
              <a:srgbClr val="606F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10076688" y="1719072"/>
            <a:ext cx="1664208" cy="950976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2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195560" y="1865376"/>
            <a:ext cx="1426464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20" b="1">
                <a:solidFill>
                  <a:srgbClr val="121820"/>
                </a:solidFill>
                <a:latin typeface="Noto Sans CJK SC"/>
                <a:ea typeface="Noto Sans CJK SC"/>
                <a:cs typeface="Microsoft YaHei"/>
              </a:rPr>
              <a:t>差异报告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22992" y="2176272"/>
            <a:ext cx="1371600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80" b="0">
                <a:solidFill>
                  <a:srgbClr val="606F80"/>
                </a:solidFill>
                <a:latin typeface="Noto Sans CJK SC"/>
                <a:ea typeface="Noto Sans CJK SC"/>
                <a:cs typeface="Microsoft YaHei"/>
              </a:rPr>
              <a:t>report.json + artifacts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68096" y="3255264"/>
            <a:ext cx="5321808" cy="1517904"/>
          </a:xfrm>
          <a:prstGeom prst="roundRect">
            <a:avLst/>
          </a:prstGeom>
          <a:solidFill>
            <a:srgbClr val="1B232D"/>
          </a:solidFill>
          <a:ln w="7620">
            <a:solidFill>
              <a:srgbClr val="404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9264" y="3493008"/>
            <a:ext cx="4937760" cy="7680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DAE3ED"/>
                </a:solidFill>
                <a:latin typeface="Noto Sans CJK SC"/>
                <a:ea typeface="Noto Sans CJK SC"/>
                <a:cs typeface="Microsoft YaHei"/>
              </a:rPr>
              <a:t>CASE ftruncate_readonly_fd ret=-1 errno=22
CASE pwritev2_writes_data ret=2 errno=0 read_ret=2 data=5859
CASE dup3_same_fd ret=-1 errno=22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73952" y="3127248"/>
            <a:ext cx="2240280" cy="166420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675120" y="3346704"/>
            <a:ext cx="164592" cy="164592"/>
          </a:xfrm>
          <a:prstGeom prst="ellipse">
            <a:avLst/>
          </a:prstGeom>
          <a:solidFill>
            <a:srgbClr val="00A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75120" y="3621024"/>
            <a:ext cx="1837944" cy="49377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21820"/>
                </a:solidFill>
                <a:latin typeface="Noto Sans CJK SC"/>
                <a:ea typeface="Noto Sans CJK SC"/>
                <a:cs typeface="Microsoft YaHei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93408" y="4151376"/>
            <a:ext cx="1801368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1">
                <a:solidFill>
                  <a:srgbClr val="212936"/>
                </a:solidFill>
                <a:latin typeface="Noto Sans CJK SC"/>
                <a:ea typeface="Noto Sans CJK SC"/>
                <a:cs typeface="Microsoft YaHei"/>
              </a:rPr>
              <a:t>riscv64 cases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93408" y="4480560"/>
            <a:ext cx="1801368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50" b="0">
                <a:solidFill>
                  <a:srgbClr val="606F80"/>
                </a:solidFill>
                <a:latin typeface="Noto Sans CJK SC"/>
                <a:ea typeface="Noto Sans CJK SC"/>
                <a:cs typeface="Microsoft YaHei"/>
              </a:rPr>
              <a:t>latest report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979408" y="3127248"/>
            <a:ext cx="2240280" cy="166420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180576" y="3346704"/>
            <a:ext cx="164592" cy="164592"/>
          </a:xfrm>
          <a:prstGeom prst="ellipse">
            <a:avLst/>
          </a:prstGeom>
          <a:solidFill>
            <a:srgbClr val="22A3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80576" y="3621024"/>
            <a:ext cx="1837944" cy="49377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21820"/>
                </a:solidFill>
                <a:latin typeface="Noto Sans CJK SC"/>
                <a:ea typeface="Noto Sans CJK SC"/>
                <a:cs typeface="Microsoft YaHei"/>
              </a:rPr>
              <a:t>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98864" y="4151376"/>
            <a:ext cx="1801368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1">
                <a:solidFill>
                  <a:srgbClr val="212936"/>
                </a:solidFill>
                <a:latin typeface="Noto Sans CJK SC"/>
                <a:ea typeface="Noto Sans CJK SC"/>
                <a:cs typeface="Microsoft YaHei"/>
              </a:rPr>
              <a:t>semantic diffs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98864" y="4480560"/>
            <a:ext cx="1801368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50" b="0">
                <a:solidFill>
                  <a:srgbClr val="606F80"/>
                </a:solidFill>
                <a:latin typeface="Noto Sans CJK SC"/>
                <a:ea typeface="Noto Sans CJK SC"/>
                <a:cs typeface="Microsoft YaHei"/>
              </a:rPr>
              <a:t>begin/end marker 正常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" y="5614416"/>
            <a:ext cx="10332720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121820"/>
                </a:solidFill>
                <a:latin typeface="Noto Sans CJK SC"/>
                <a:ea typeface="Noto Sans CJK SC"/>
                <a:cs typeface="Microsoft YaHei"/>
              </a:rPr>
              <a:t>已验证修复示例：ftruncate_readonly_fd 曾暴露 errno 映射差异，修实现后 rerun discover 验证 riscv64 无差异。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6928" y="6510528"/>
            <a:ext cx="256032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50" b="0">
                <a:solidFill>
                  <a:srgbClr val="606F80"/>
                </a:solidFill>
                <a:latin typeface="Noto Sans CJK SC"/>
                <a:ea typeface="Noto Sans CJK SC"/>
                <a:cs typeface="Microsoft YaHei"/>
              </a:rPr>
              <a:t>AI-Harness 答辩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000232" y="6510528"/>
            <a:ext cx="694944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850" b="0">
                <a:solidFill>
                  <a:srgbClr val="606F80"/>
                </a:solidFill>
                <a:latin typeface="Noto Sans CJK SC"/>
                <a:ea typeface="Noto Sans CJK SC"/>
                <a:cs typeface="Microsoft YaHei"/>
              </a:rPr>
              <a:t>12/23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64592"/>
          </a:xfrm>
          <a:prstGeom prst="rect">
            <a:avLst/>
          </a:prstGeom>
          <a:solidFill>
            <a:srgbClr val="12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0" y="237744"/>
            <a:ext cx="228600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850" b="0">
                <a:solidFill>
                  <a:srgbClr val="606F80"/>
                </a:solidFill>
                <a:latin typeface="Noto Sans CJK SC"/>
                <a:ea typeface="Noto Sans CJK SC"/>
                <a:cs typeface="Microsoft YaHei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29184"/>
            <a:ext cx="210312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50" b="1">
                <a:solidFill>
                  <a:srgbClr val="00A6B5"/>
                </a:solidFill>
                <a:latin typeface="Noto Sans CJK SC"/>
                <a:ea typeface="Noto Sans CJK SC"/>
                <a:cs typeface="Microsoft YaHei"/>
              </a:rPr>
              <a:t>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30352"/>
            <a:ext cx="8046720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>
                <a:solidFill>
                  <a:srgbClr val="121820"/>
                </a:solidFill>
                <a:latin typeface="Noto Sans CJK SC"/>
                <a:ea typeface="Noto Sans CJK SC"/>
                <a:cs typeface="Microsoft YaHei"/>
              </a:rPr>
              <a:t>qperf 性能闭环：从采样到可执行修复线索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051560"/>
            <a:ext cx="8046720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0">
                <a:solidFill>
                  <a:srgbClr val="606F80"/>
                </a:solidFill>
                <a:latin typeface="Noto Sans CJK SC"/>
                <a:ea typeface="Noto Sans CJK SC"/>
                <a:cs typeface="Microsoft YaHei"/>
              </a:rPr>
              <a:t>profile 结果不是结论本身，而是进入代码审查和 perf-diff 的证据。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35024"/>
            <a:ext cx="1051560" cy="41148"/>
          </a:xfrm>
          <a:prstGeom prst="rect">
            <a:avLst/>
          </a:prstGeom>
          <a:solidFill>
            <a:srgbClr val="EF9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1874519"/>
            <a:ext cx="2212848" cy="8412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0A6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2020823"/>
            <a:ext cx="1975104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80" b="1">
                <a:solidFill>
                  <a:srgbClr val="121820"/>
                </a:solidFill>
                <a:latin typeface="Noto Sans CJK SC"/>
                <a:ea typeface="Noto Sans CJK SC"/>
                <a:cs typeface="Microsoft YaHei"/>
              </a:rPr>
              <a:t>StarryOS build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" y="2331719"/>
            <a:ext cx="1920240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80" b="0">
                <a:solidFill>
                  <a:srgbClr val="606F80"/>
                </a:solidFill>
                <a:latin typeface="Noto Sans CJK SC"/>
                <a:ea typeface="Noto Sans CJK SC"/>
                <a:cs typeface="Microsoft YaHei"/>
              </a:rPr>
              <a:t>release 默认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715768" y="2295143"/>
            <a:ext cx="420624" cy="0"/>
          </a:xfrm>
          <a:prstGeom prst="line">
            <a:avLst/>
          </a:prstGeom>
          <a:ln w="13335">
            <a:solidFill>
              <a:srgbClr val="606F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355848" y="1874519"/>
            <a:ext cx="2212848" cy="8412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4467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2020823"/>
            <a:ext cx="1975104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80" b="1">
                <a:solidFill>
                  <a:srgbClr val="121820"/>
                </a:solidFill>
                <a:latin typeface="Noto Sans CJK SC"/>
                <a:ea typeface="Noto Sans CJK SC"/>
                <a:cs typeface="Microsoft YaHei"/>
              </a:rPr>
              <a:t>QEMU + plugin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02152" y="2331719"/>
            <a:ext cx="1920240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80" b="0">
                <a:solidFill>
                  <a:srgbClr val="606F80"/>
                </a:solidFill>
                <a:latin typeface="Noto Sans CJK SC"/>
                <a:ea typeface="Noto Sans CJK SC"/>
                <a:cs typeface="Microsoft YaHei"/>
              </a:rPr>
              <a:t>TCG sampling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568696" y="2295143"/>
            <a:ext cx="420624" cy="0"/>
          </a:xfrm>
          <a:prstGeom prst="line">
            <a:avLst/>
          </a:prstGeom>
          <a:ln w="13335">
            <a:solidFill>
              <a:srgbClr val="606F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208776" y="1874519"/>
            <a:ext cx="2212848" cy="8412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F9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27648" y="2020823"/>
            <a:ext cx="1975104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80" b="1">
                <a:solidFill>
                  <a:srgbClr val="121820"/>
                </a:solidFill>
                <a:latin typeface="Noto Sans CJK SC"/>
                <a:ea typeface="Noto Sans CJK SC"/>
                <a:cs typeface="Microsoft YaHei"/>
              </a:rPr>
              <a:t>raw samples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331719"/>
            <a:ext cx="1920240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80" b="0">
                <a:solidFill>
                  <a:srgbClr val="606F80"/>
                </a:solidFill>
                <a:latin typeface="Noto Sans CJK SC"/>
                <a:ea typeface="Noto Sans CJK SC"/>
                <a:cs typeface="Microsoft YaHei"/>
              </a:rPr>
              <a:t>qperf.bin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421624" y="2295143"/>
            <a:ext cx="420624" cy="0"/>
          </a:xfrm>
          <a:prstGeom prst="line">
            <a:avLst/>
          </a:prstGeom>
          <a:ln w="13335">
            <a:solidFill>
              <a:srgbClr val="606F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061704" y="1874519"/>
            <a:ext cx="2212848" cy="8412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2A3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80576" y="2020823"/>
            <a:ext cx="1975104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80" b="1">
                <a:solidFill>
                  <a:srgbClr val="121820"/>
                </a:solidFill>
                <a:latin typeface="Noto Sans CJK SC"/>
                <a:ea typeface="Noto Sans CJK SC"/>
                <a:cs typeface="Microsoft YaHei"/>
              </a:rPr>
              <a:t>analyzer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08008" y="2331719"/>
            <a:ext cx="1920240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80" b="0">
                <a:solidFill>
                  <a:srgbClr val="606F80"/>
                </a:solidFill>
                <a:latin typeface="Noto Sans CJK SC"/>
                <a:ea typeface="Noto Sans CJK SC"/>
                <a:cs typeface="Microsoft YaHei"/>
              </a:rPr>
              <a:t>resolve symbols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0158984" y="2715767"/>
            <a:ext cx="0" cy="566928"/>
          </a:xfrm>
          <a:prstGeom prst="line">
            <a:avLst/>
          </a:prstGeom>
          <a:ln w="13335">
            <a:solidFill>
              <a:srgbClr val="606F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02920" y="3538727"/>
            <a:ext cx="2212848" cy="8412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7F53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" y="3685031"/>
            <a:ext cx="1975104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80" b="1">
                <a:solidFill>
                  <a:srgbClr val="121820"/>
                </a:solidFill>
                <a:latin typeface="Noto Sans CJK SC"/>
                <a:ea typeface="Noto Sans CJK SC"/>
                <a:cs typeface="Microsoft YaHei"/>
              </a:rPr>
              <a:t>folded stack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" y="3995927"/>
            <a:ext cx="1920240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80" b="0">
                <a:solidFill>
                  <a:srgbClr val="606F80"/>
                </a:solidFill>
                <a:latin typeface="Noto Sans CJK SC"/>
                <a:ea typeface="Noto Sans CJK SC"/>
                <a:cs typeface="Microsoft YaHei"/>
              </a:rPr>
              <a:t>stack.folded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715768" y="3959351"/>
            <a:ext cx="420624" cy="0"/>
          </a:xfrm>
          <a:prstGeom prst="line">
            <a:avLst/>
          </a:prstGeom>
          <a:ln w="13335">
            <a:solidFill>
              <a:srgbClr val="606F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3355848" y="3538727"/>
            <a:ext cx="2212848" cy="8412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344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74720" y="3685031"/>
            <a:ext cx="1975104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80" b="1">
                <a:solidFill>
                  <a:srgbClr val="121820"/>
                </a:solidFill>
                <a:latin typeface="Noto Sans CJK SC"/>
                <a:ea typeface="Noto Sans CJK SC"/>
                <a:cs typeface="Microsoft YaHei"/>
              </a:rPr>
              <a:t>flamegraph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2152" y="3995927"/>
            <a:ext cx="1920240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80" b="0">
                <a:solidFill>
                  <a:srgbClr val="606F80"/>
                </a:solidFill>
                <a:latin typeface="Noto Sans CJK SC"/>
                <a:ea typeface="Noto Sans CJK SC"/>
                <a:cs typeface="Microsoft YaHei"/>
              </a:rPr>
              <a:t>SVG visual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568696" y="3959351"/>
            <a:ext cx="420624" cy="0"/>
          </a:xfrm>
          <a:prstGeom prst="line">
            <a:avLst/>
          </a:prstGeom>
          <a:ln w="13335">
            <a:solidFill>
              <a:srgbClr val="606F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6208776" y="3538727"/>
            <a:ext cx="2212848" cy="8412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2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27648" y="3685031"/>
            <a:ext cx="1975104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80" b="1">
                <a:solidFill>
                  <a:srgbClr val="121820"/>
                </a:solidFill>
                <a:latin typeface="Noto Sans CJK SC"/>
                <a:ea typeface="Noto Sans CJK SC"/>
                <a:cs typeface="Microsoft YaHei"/>
              </a:rPr>
              <a:t>fix candidates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80" y="3995927"/>
            <a:ext cx="1920240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80" b="0">
                <a:solidFill>
                  <a:srgbClr val="606F80"/>
                </a:solidFill>
                <a:latin typeface="Noto Sans CJK SC"/>
                <a:ea typeface="Noto Sans CJK SC"/>
                <a:cs typeface="Microsoft YaHei"/>
              </a:rPr>
              <a:t>rule-based triage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8421624" y="3959351"/>
            <a:ext cx="420624" cy="0"/>
          </a:xfrm>
          <a:prstGeom prst="line">
            <a:avLst/>
          </a:prstGeom>
          <a:ln w="13335">
            <a:solidFill>
              <a:srgbClr val="606F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9061704" y="3538727"/>
            <a:ext cx="2212848" cy="8412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0A6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80576" y="3685031"/>
            <a:ext cx="1975104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80" b="1">
                <a:solidFill>
                  <a:srgbClr val="121820"/>
                </a:solidFill>
                <a:latin typeface="Noto Sans CJK SC"/>
                <a:ea typeface="Noto Sans CJK SC"/>
                <a:cs typeface="Microsoft YaHei"/>
              </a:rPr>
              <a:t>perf-diff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08008" y="3995927"/>
            <a:ext cx="1920240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80" b="0">
                <a:solidFill>
                  <a:srgbClr val="606F80"/>
                </a:solidFill>
                <a:latin typeface="Noto Sans CJK SC"/>
                <a:ea typeface="Noto Sans CJK SC"/>
                <a:cs typeface="Microsoft YaHei"/>
              </a:rPr>
              <a:t>before/after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4672" y="5230368"/>
            <a:ext cx="10588752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04672" y="5230368"/>
            <a:ext cx="73152" cy="713232"/>
          </a:xfrm>
          <a:prstGeom prst="rect">
            <a:avLst/>
          </a:prstGeom>
          <a:solidFill>
            <a:srgbClr val="EF9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42416" y="5394960"/>
            <a:ext cx="10204704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50" b="1">
                <a:solidFill>
                  <a:srgbClr val="121820"/>
                </a:solidFill>
                <a:latin typeface="Noto Sans CJK SC"/>
                <a:ea typeface="Noto Sans CJK SC"/>
                <a:cs typeface="Microsoft YaHei"/>
              </a:rPr>
              <a:t>关键工程增强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14984" y="5806440"/>
            <a:ext cx="10204704" cy="18288"/>
          </a:xfrm>
          <a:prstGeom prst="rect">
            <a:avLst/>
          </a:prstGeom>
          <a:noFill/>
        </p:spPr>
        <p:txBody>
          <a:bodyPr wrap="square" lIns="73152" rIns="54864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425"/>
              </a:spcAft>
            </a:pPr>
            <a:r>
              <a:rPr sz="1130" b="0">
                <a:solidFill>
                  <a:srgbClr val="212936"/>
                </a:solidFill>
                <a:latin typeface="Noto Sans CJK SC"/>
                <a:ea typeface="Noto Sans CJK SC"/>
                <a:cs typeface="Microsoft YaHei"/>
              </a:rPr>
              <a:t>bounded queue + non-blocking send 降低采样扰动；symbol cache / partial record 容错提升 analyzer 稳定性；SVG/JSON/CSV 同时输出，支持机器解析与人工复核。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" y="6510528"/>
            <a:ext cx="256032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50" b="0">
                <a:solidFill>
                  <a:srgbClr val="606F80"/>
                </a:solidFill>
                <a:latin typeface="Noto Sans CJK SC"/>
                <a:ea typeface="Noto Sans CJK SC"/>
                <a:cs typeface="Microsoft YaHei"/>
              </a:rPr>
              <a:t>AI-Harness 答辩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000232" y="6510528"/>
            <a:ext cx="694944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850" b="0">
                <a:solidFill>
                  <a:srgbClr val="606F80"/>
                </a:solidFill>
                <a:latin typeface="Noto Sans CJK SC"/>
                <a:ea typeface="Noto Sans CJK SC"/>
                <a:cs typeface="Microsoft YaHei"/>
              </a:rPr>
              <a:t>13/23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64592"/>
          </a:xfrm>
          <a:prstGeom prst="rect">
            <a:avLst/>
          </a:prstGeom>
          <a:solidFill>
            <a:srgbClr val="12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0" y="237744"/>
            <a:ext cx="228600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850" b="0">
                <a:solidFill>
                  <a:srgbClr val="606F80"/>
                </a:solidFill>
                <a:latin typeface="Noto Sans CJK SC"/>
                <a:ea typeface="Noto Sans CJK SC"/>
                <a:cs typeface="Microsoft YaHei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29184"/>
            <a:ext cx="210312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50" b="1">
                <a:solidFill>
                  <a:srgbClr val="00A6B5"/>
                </a:solidFill>
                <a:latin typeface="Noto Sans CJK SC"/>
                <a:ea typeface="Noto Sans CJK SC"/>
                <a:cs typeface="Microsoft YaHei"/>
              </a:rPr>
              <a:t>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30352"/>
            <a:ext cx="8046720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>
                <a:solidFill>
                  <a:srgbClr val="121820"/>
                </a:solidFill>
                <a:latin typeface="Noto Sans CJK SC"/>
                <a:ea typeface="Noto Sans CJK SC"/>
                <a:cs typeface="Microsoft YaHei"/>
              </a:rPr>
              <a:t>代码与产物布局：入口清晰，证据可追踪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051560"/>
            <a:ext cx="8046720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0">
                <a:solidFill>
                  <a:srgbClr val="606F80"/>
                </a:solidFill>
                <a:latin typeface="Noto Sans CJK SC"/>
                <a:ea typeface="Noto Sans CJK SC"/>
                <a:cs typeface="Microsoft YaHei"/>
              </a:rPr>
              <a:t>代码入口、采样工具、报告目录共同构成可扩展的开发平台。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35024"/>
            <a:ext cx="1051560" cy="41148"/>
          </a:xfrm>
          <a:prstGeom prst="rect">
            <a:avLst/>
          </a:prstGeom>
          <a:solidFill>
            <a:srgbClr val="EF9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13232" y="1627632"/>
          <a:ext cx="10771632" cy="3273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3611880"/>
                <a:gridCol w="5056632"/>
              </a:tblGrid>
              <a:tr h="545592">
                <a:tc>
                  <a:txBody>
                    <a:bodyPr lIns="54864" rIns="36576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Microsoft YaHei"/>
                        </a:rPr>
                        <a:t>模块</a:t>
                      </a:r>
                    </a:p>
                  </a:txBody>
                  <a:tcPr anchor="ctr">
                    <a:solidFill>
                      <a:srgbClr val="121820"/>
                    </a:solidFill>
                  </a:tcPr>
                </a:tc>
                <a:tc>
                  <a:txBody>
                    <a:bodyPr lIns="54864" rIns="36576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Microsoft YaHei"/>
                        </a:rPr>
                        <a:t>路径</a:t>
                      </a:r>
                    </a:p>
                  </a:txBody>
                  <a:tcPr anchor="ctr">
                    <a:solidFill>
                      <a:srgbClr val="121820"/>
                    </a:solidFill>
                  </a:tcPr>
                </a:tc>
                <a:tc>
                  <a:txBody>
                    <a:bodyPr lIns="54864" rIns="36576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Microsoft YaHei"/>
                        </a:rPr>
                        <a:t>职责</a:t>
                      </a:r>
                    </a:p>
                  </a:txBody>
                  <a:tcPr anchor="ctr">
                    <a:solidFill>
                      <a:srgbClr val="121820"/>
                    </a:solidFill>
                  </a:tcPr>
                </a:tc>
              </a:tr>
              <a:tr h="545592">
                <a:tc>
                  <a:txBody>
                    <a:bodyPr lIns="54864" rIns="36576"/>
                    <a:lstStyle/>
                    <a:p>
                      <a:pPr algn="l"/>
                      <a:r>
                        <a:rPr sz="1019" b="1">
                          <a:solidFill>
                            <a:srgbClr val="212936"/>
                          </a:solidFill>
                          <a:latin typeface="Noto Sans CJK SC"/>
                          <a:ea typeface="Noto Sans CJK SC"/>
                          <a:cs typeface="Microsoft YaHei"/>
                        </a:rPr>
                        <a:t>CLI / MCP / UI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54864" rIns="36576"/>
                    <a:lstStyle/>
                    <a:p>
                      <a:pPr algn="l"/>
                      <a:r>
                        <a:rPr sz="1019" b="0">
                          <a:solidFill>
                            <a:srgbClr val="212936"/>
                          </a:solidFill>
                          <a:latin typeface="Noto Sans CJK SC"/>
                          <a:ea typeface="Noto Sans CJK SC"/>
                          <a:cs typeface="Microsoft YaHei"/>
                        </a:rPr>
                        <a:t>tools/starry-syscall-harness/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54864" rIns="36576"/>
                    <a:lstStyle/>
                    <a:p>
                      <a:pPr algn="l"/>
                      <a:r>
                        <a:rPr sz="1019" b="0">
                          <a:solidFill>
                            <a:srgbClr val="212936"/>
                          </a:solidFill>
                          <a:latin typeface="Noto Sans CJK SC"/>
                          <a:ea typeface="Noto Sans CJK SC"/>
                          <a:cs typeface="Microsoft YaHei"/>
                        </a:rPr>
                        <a:t>harness.py, mcp_server.py, ui_server.py, web/*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5592">
                <a:tc>
                  <a:txBody>
                    <a:bodyPr lIns="54864" rIns="36576"/>
                    <a:lstStyle/>
                    <a:p>
                      <a:pPr algn="l"/>
                      <a:r>
                        <a:rPr sz="1019" b="1">
                          <a:solidFill>
                            <a:srgbClr val="212936"/>
                          </a:solidFill>
                          <a:latin typeface="Noto Sans CJK SC"/>
                          <a:ea typeface="Noto Sans CJK SC"/>
                          <a:cs typeface="Microsoft YaHei"/>
                        </a:rPr>
                        <a:t>Syscall Probe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 lIns="54864" rIns="36576"/>
                    <a:lstStyle/>
                    <a:p>
                      <a:pPr algn="l"/>
                      <a:r>
                        <a:rPr sz="1019" b="0">
                          <a:solidFill>
                            <a:srgbClr val="212936"/>
                          </a:solidFill>
                          <a:latin typeface="Noto Sans CJK SC"/>
                          <a:ea typeface="Noto Sans CJK SC"/>
                          <a:cs typeface="Microsoft YaHei"/>
                        </a:rPr>
                        <a:t>tools/starry-syscall-harness/probes/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 lIns="54864" rIns="36576"/>
                    <a:lstStyle/>
                    <a:p>
                      <a:pPr algn="l"/>
                      <a:r>
                        <a:rPr sz="1019" b="0">
                          <a:solidFill>
                            <a:srgbClr val="212936"/>
                          </a:solidFill>
                          <a:latin typeface="Noto Sans CJK SC"/>
                          <a:ea typeface="Noto Sans CJK SC"/>
                          <a:cs typeface="Microsoft YaHei"/>
                        </a:rPr>
                        <a:t>syscall_probe.c: 输出稳定 CASE 行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</a:tr>
              <a:tr h="545592">
                <a:tc>
                  <a:txBody>
                    <a:bodyPr lIns="54864" rIns="36576"/>
                    <a:lstStyle/>
                    <a:p>
                      <a:pPr algn="l"/>
                      <a:r>
                        <a:rPr sz="1019" b="1">
                          <a:solidFill>
                            <a:srgbClr val="212936"/>
                          </a:solidFill>
                          <a:latin typeface="Noto Sans CJK SC"/>
                          <a:ea typeface="Noto Sans CJK SC"/>
                          <a:cs typeface="Microsoft YaHei"/>
                        </a:rPr>
                        <a:t>qperf 工具链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54864" rIns="36576"/>
                    <a:lstStyle/>
                    <a:p>
                      <a:pPr algn="l"/>
                      <a:r>
                        <a:rPr sz="1019" b="0">
                          <a:solidFill>
                            <a:srgbClr val="212936"/>
                          </a:solidFill>
                          <a:latin typeface="Noto Sans CJK SC"/>
                          <a:ea typeface="Noto Sans CJK SC"/>
                          <a:cs typeface="Microsoft YaHei"/>
                        </a:rPr>
                        <a:t>tools/qperf/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54864" rIns="36576"/>
                    <a:lstStyle/>
                    <a:p>
                      <a:pPr algn="l"/>
                      <a:r>
                        <a:rPr sz="1019" b="0">
                          <a:solidFill>
                            <a:srgbClr val="212936"/>
                          </a:solidFill>
                          <a:latin typeface="Noto Sans CJK SC"/>
                          <a:ea typeface="Noto Sans CJK SC"/>
                          <a:cs typeface="Microsoft YaHei"/>
                        </a:rPr>
                        <a:t>plugin / profiler / analyzer / flamegraph feature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5592">
                <a:tc>
                  <a:txBody>
                    <a:bodyPr lIns="54864" rIns="36576"/>
                    <a:lstStyle/>
                    <a:p>
                      <a:pPr algn="l"/>
                      <a:r>
                        <a:rPr sz="1019" b="1">
                          <a:solidFill>
                            <a:srgbClr val="212936"/>
                          </a:solidFill>
                          <a:latin typeface="Noto Sans CJK SC"/>
                          <a:ea typeface="Noto Sans CJK SC"/>
                          <a:cs typeface="Microsoft YaHei"/>
                        </a:rPr>
                        <a:t>xtask 集成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 lIns="54864" rIns="36576"/>
                    <a:lstStyle/>
                    <a:p>
                      <a:pPr algn="l"/>
                      <a:r>
                        <a:rPr sz="1019" b="0">
                          <a:solidFill>
                            <a:srgbClr val="212936"/>
                          </a:solidFill>
                          <a:latin typeface="Noto Sans CJK SC"/>
                          <a:ea typeface="Noto Sans CJK SC"/>
                          <a:cs typeface="Microsoft YaHei"/>
                        </a:rPr>
                        <a:t>scripts/axbuild/src/starry/perf.rs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 lIns="54864" rIns="36576"/>
                    <a:lstStyle/>
                    <a:p>
                      <a:pPr algn="l"/>
                      <a:r>
                        <a:rPr sz="1019" b="0">
                          <a:solidFill>
                            <a:srgbClr val="212936"/>
                          </a:solidFill>
                          <a:latin typeface="Noto Sans CJK SC"/>
                          <a:ea typeface="Noto Sans CJK SC"/>
                          <a:cs typeface="Microsoft YaHei"/>
                        </a:rPr>
                        <a:t>构建 qperf、StarryOS、QEMU config 与 analyzer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</a:tr>
              <a:tr h="545592">
                <a:tc>
                  <a:txBody>
                    <a:bodyPr lIns="54864" rIns="36576"/>
                    <a:lstStyle/>
                    <a:p>
                      <a:pPr algn="l"/>
                      <a:r>
                        <a:rPr sz="1019" b="1">
                          <a:solidFill>
                            <a:srgbClr val="212936"/>
                          </a:solidFill>
                          <a:latin typeface="Noto Sans CJK SC"/>
                          <a:ea typeface="Noto Sans CJK SC"/>
                          <a:cs typeface="Microsoft YaHei"/>
                        </a:rPr>
                        <a:t>报告产物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54864" rIns="36576"/>
                    <a:lstStyle/>
                    <a:p>
                      <a:pPr algn="l"/>
                      <a:r>
                        <a:rPr sz="1019" b="0">
                          <a:solidFill>
                            <a:srgbClr val="212936"/>
                          </a:solidFill>
                          <a:latin typeface="Noto Sans CJK SC"/>
                          <a:ea typeface="Noto Sans CJK SC"/>
                          <a:cs typeface="Microsoft YaHei"/>
                        </a:rPr>
                        <a:t>target/starry-syscall-harness/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54864" rIns="36576"/>
                    <a:lstStyle/>
                    <a:p>
                      <a:pPr algn="l"/>
                      <a:r>
                        <a:rPr sz="1019" b="0">
                          <a:solidFill>
                            <a:srgbClr val="212936"/>
                          </a:solidFill>
                          <a:latin typeface="Noto Sans CJK SC"/>
                          <a:ea typeface="Noto Sans CJK SC"/>
                          <a:cs typeface="Microsoft YaHei"/>
                        </a:rPr>
                        <a:t>report.json, report.md, hotspots.csv, stack.folded, flamegraph.svg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77824" y="5285232"/>
            <a:ext cx="10241280" cy="51206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121820"/>
                </a:solidFill>
                <a:latin typeface="Noto Sans CJK SC"/>
                <a:ea typeface="Noto Sans CJK SC"/>
                <a:cs typeface="Microsoft YaHei"/>
              </a:rPr>
              <a:t>设计取舍：agent 面对的是稳定的 harness 接口和结构化报告，不直接依赖临时命令、手写 QEMU 参数或不可复现日志。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510528"/>
            <a:ext cx="256032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50" b="0">
                <a:solidFill>
                  <a:srgbClr val="606F80"/>
                </a:solidFill>
                <a:latin typeface="Noto Sans CJK SC"/>
                <a:ea typeface="Noto Sans CJK SC"/>
                <a:cs typeface="Microsoft YaHei"/>
              </a:rPr>
              <a:t>AI-Harness 答辩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0232" y="6510528"/>
            <a:ext cx="694944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850" b="0">
                <a:solidFill>
                  <a:srgbClr val="606F80"/>
                </a:solidFill>
                <a:latin typeface="Noto Sans CJK SC"/>
                <a:ea typeface="Noto Sans CJK SC"/>
                <a:cs typeface="Microsoft YaHei"/>
              </a:rPr>
              <a:t>14/23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64592"/>
          </a:xfrm>
          <a:prstGeom prst="rect">
            <a:avLst/>
          </a:prstGeom>
          <a:solidFill>
            <a:srgbClr val="12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0" y="237744"/>
            <a:ext cx="228600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850" b="0">
                <a:solidFill>
                  <a:srgbClr val="606F80"/>
                </a:solidFill>
                <a:latin typeface="Noto Sans CJK SC"/>
                <a:ea typeface="Noto Sans CJK SC"/>
                <a:cs typeface="Microsoft YaHei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29184"/>
            <a:ext cx="210312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50" b="1">
                <a:solidFill>
                  <a:srgbClr val="00A6B5"/>
                </a:solidFill>
                <a:latin typeface="Noto Sans CJK SC"/>
                <a:ea typeface="Noto Sans CJK SC"/>
                <a:cs typeface="Microsoft YaHei"/>
              </a:rPr>
              <a:t>AGENT 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30352"/>
            <a:ext cx="8046720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>
                <a:solidFill>
                  <a:srgbClr val="121820"/>
                </a:solidFill>
                <a:latin typeface="Noto Sans CJK SC"/>
                <a:ea typeface="Noto Sans CJK SC"/>
                <a:cs typeface="Microsoft YaHei"/>
              </a:rPr>
              <a:t>Agent-facing 能力：CLI、MCP、Skill 与 Local UI 同源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051560"/>
            <a:ext cx="8046720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0">
                <a:solidFill>
                  <a:srgbClr val="606F80"/>
                </a:solidFill>
                <a:latin typeface="Noto Sans CJK SC"/>
                <a:ea typeface="Noto Sans CJK SC"/>
                <a:cs typeface="Microsoft YaHei"/>
              </a:rPr>
              <a:t>自动化入口和人工观察入口共享同一套 harness 命令与 artifact。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35024"/>
            <a:ext cx="1051560" cy="41148"/>
          </a:xfrm>
          <a:prstGeom prst="rect">
            <a:avLst/>
          </a:prstGeom>
          <a:solidFill>
            <a:srgbClr val="EF9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" y="1627632"/>
            <a:ext cx="3401568" cy="415137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627632"/>
            <a:ext cx="73152" cy="4151376"/>
          </a:xfrm>
          <a:prstGeom prst="rect">
            <a:avLst/>
          </a:prstGeom>
          <a:solidFill>
            <a:srgbClr val="00A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792224"/>
            <a:ext cx="3017520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21820"/>
                </a:solidFill>
                <a:latin typeface="Noto Sans CJK SC"/>
                <a:ea typeface="Noto Sans CJK SC"/>
                <a:cs typeface="Microsoft YaHei"/>
              </a:rPr>
              <a:t>MCP tools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203704"/>
            <a:ext cx="3017520" cy="3456432"/>
          </a:xfrm>
          <a:prstGeom prst="rect">
            <a:avLst/>
          </a:prstGeom>
          <a:noFill/>
        </p:spPr>
        <p:txBody>
          <a:bodyPr wrap="square" lIns="73152" rIns="54864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425"/>
              </a:spcAft>
            </a:pPr>
            <a:r>
              <a:rPr sz="1300" b="0">
                <a:solidFill>
                  <a:srgbClr val="212936"/>
                </a:solidFill>
                <a:latin typeface="Noto Sans CJK SC"/>
                <a:ea typeface="Noto Sans CJK SC"/>
                <a:cs typeface="Microsoft YaHei"/>
              </a:rPr>
              <a:t>starry_syscall_doctor</a:t>
            </a:r>
          </a:p>
          <a:p>
            <a:pPr>
              <a:lnSpc>
                <a:spcPct val="105000"/>
              </a:lnSpc>
              <a:spcAft>
                <a:spcPts val="425"/>
              </a:spcAft>
            </a:pPr>
            <a:r>
              <a:rPr sz="1300" b="0">
                <a:solidFill>
                  <a:srgbClr val="212936"/>
                </a:solidFill>
                <a:latin typeface="Noto Sans CJK SC"/>
                <a:ea typeface="Noto Sans CJK SC"/>
                <a:cs typeface="Microsoft YaHei"/>
              </a:rPr>
              <a:t>starry_syscall_discover</a:t>
            </a:r>
          </a:p>
          <a:p>
            <a:pPr>
              <a:lnSpc>
                <a:spcPct val="105000"/>
              </a:lnSpc>
              <a:spcAft>
                <a:spcPts val="425"/>
              </a:spcAft>
            </a:pPr>
            <a:r>
              <a:rPr sz="1300" b="0">
                <a:solidFill>
                  <a:srgbClr val="212936"/>
                </a:solidFill>
                <a:latin typeface="Noto Sans CJK SC"/>
                <a:ea typeface="Noto Sans CJK SC"/>
                <a:cs typeface="Microsoft YaHei"/>
              </a:rPr>
              <a:t>starry_perf_profile</a:t>
            </a:r>
          </a:p>
          <a:p>
            <a:pPr>
              <a:lnSpc>
                <a:spcPct val="105000"/>
              </a:lnSpc>
              <a:spcAft>
                <a:spcPts val="425"/>
              </a:spcAft>
            </a:pPr>
            <a:r>
              <a:rPr sz="1300" b="0">
                <a:solidFill>
                  <a:srgbClr val="212936"/>
                </a:solidFill>
                <a:latin typeface="Noto Sans CJK SC"/>
                <a:ea typeface="Noto Sans CJK SC"/>
                <a:cs typeface="Microsoft YaHei"/>
              </a:rPr>
              <a:t>starry_perf_diff</a:t>
            </a:r>
          </a:p>
          <a:p>
            <a:pPr>
              <a:lnSpc>
                <a:spcPct val="105000"/>
              </a:lnSpc>
              <a:spcAft>
                <a:spcPts val="425"/>
              </a:spcAft>
            </a:pPr>
            <a:r>
              <a:rPr sz="1300" b="0">
                <a:solidFill>
                  <a:srgbClr val="212936"/>
                </a:solidFill>
                <a:latin typeface="Noto Sans CJK SC"/>
                <a:ea typeface="Noto Sans CJK SC"/>
                <a:cs typeface="Microsoft YaHei"/>
              </a:rPr>
              <a:t>starry_harness_ui_command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7408" y="1627632"/>
            <a:ext cx="3401568" cy="415137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07408" y="1627632"/>
            <a:ext cx="73152" cy="4151376"/>
          </a:xfrm>
          <a:prstGeom prst="rect">
            <a:avLst/>
          </a:prstGeom>
          <a:solidFill>
            <a:srgbClr val="22A3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45152" y="1792224"/>
            <a:ext cx="3017520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21820"/>
                </a:solidFill>
                <a:latin typeface="Noto Sans CJK SC"/>
                <a:ea typeface="Noto Sans CJK SC"/>
                <a:cs typeface="Microsoft YaHei"/>
              </a:rPr>
              <a:t>Codex skill 约束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203704"/>
            <a:ext cx="3017520" cy="3456432"/>
          </a:xfrm>
          <a:prstGeom prst="rect">
            <a:avLst/>
          </a:prstGeom>
          <a:noFill/>
        </p:spPr>
        <p:txBody>
          <a:bodyPr wrap="square" lIns="73152" rIns="54864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425"/>
              </a:spcAft>
            </a:pPr>
            <a:r>
              <a:rPr sz="1220" b="0">
                <a:solidFill>
                  <a:srgbClr val="212936"/>
                </a:solidFill>
                <a:latin typeface="Noto Sans CJK SC"/>
                <a:ea typeface="Noto Sans CJK SC"/>
                <a:cs typeface="Microsoft YaHei"/>
              </a:rPr>
              <a:t>StarryOS 相关流程必须走 Docker</a:t>
            </a:r>
          </a:p>
          <a:p>
            <a:pPr>
              <a:lnSpc>
                <a:spcPct val="105000"/>
              </a:lnSpc>
              <a:spcAft>
                <a:spcPts val="425"/>
              </a:spcAft>
            </a:pPr>
            <a:r>
              <a:rPr sz="1220" b="0">
                <a:solidFill>
                  <a:srgbClr val="212936"/>
                </a:solidFill>
                <a:latin typeface="Noto Sans CJK SC"/>
                <a:ea typeface="Noto Sans CJK SC"/>
                <a:cs typeface="Microsoft YaHei"/>
              </a:rPr>
              <a:t>Linux probe 是 syscall 参考基线</a:t>
            </a:r>
          </a:p>
          <a:p>
            <a:pPr>
              <a:lnSpc>
                <a:spcPct val="105000"/>
              </a:lnSpc>
              <a:spcAft>
                <a:spcPts val="425"/>
              </a:spcAft>
            </a:pPr>
            <a:r>
              <a:rPr sz="1220" b="0">
                <a:solidFill>
                  <a:srgbClr val="212936"/>
                </a:solidFill>
                <a:latin typeface="Noto Sans CJK SC"/>
                <a:ea typeface="Noto Sans CJK SC"/>
                <a:cs typeface="Microsoft YaHei"/>
              </a:rPr>
              <a:t>qperf 结果作为 triage 输入</a:t>
            </a:r>
          </a:p>
          <a:p>
            <a:pPr>
              <a:lnSpc>
                <a:spcPct val="105000"/>
              </a:lnSpc>
              <a:spcAft>
                <a:spcPts val="425"/>
              </a:spcAft>
            </a:pPr>
            <a:r>
              <a:rPr sz="1220" b="0">
                <a:solidFill>
                  <a:srgbClr val="212936"/>
                </a:solidFill>
                <a:latin typeface="Noto Sans CJK SC"/>
                <a:ea typeface="Noto Sans CJK SC"/>
                <a:cs typeface="Microsoft YaHei"/>
              </a:rPr>
              <a:t>修复后 rerun + targeted clippy</a:t>
            </a:r>
          </a:p>
          <a:p>
            <a:pPr>
              <a:lnSpc>
                <a:spcPct val="105000"/>
              </a:lnSpc>
              <a:spcAft>
                <a:spcPts val="425"/>
              </a:spcAft>
            </a:pPr>
            <a:r>
              <a:rPr sz="1220" b="0">
                <a:solidFill>
                  <a:srgbClr val="212936"/>
                </a:solidFill>
                <a:latin typeface="Noto Sans CJK SC"/>
                <a:ea typeface="Noto Sans CJK SC"/>
                <a:cs typeface="Microsoft YaHei"/>
              </a:rPr>
              <a:t>不削弱 probe 来隐藏差异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56448" y="1627632"/>
            <a:ext cx="3401568" cy="415137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56448" y="1627632"/>
            <a:ext cx="73152" cy="4151376"/>
          </a:xfrm>
          <a:prstGeom prst="rect">
            <a:avLst/>
          </a:prstGeom>
          <a:solidFill>
            <a:srgbClr val="EF9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94192" y="1792224"/>
            <a:ext cx="3017520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21820"/>
                </a:solidFill>
                <a:latin typeface="Noto Sans CJK SC"/>
                <a:ea typeface="Noto Sans CJK SC"/>
                <a:cs typeface="Microsoft YaHei"/>
              </a:rPr>
              <a:t>Local Web UI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203704"/>
            <a:ext cx="3017520" cy="3456432"/>
          </a:xfrm>
          <a:prstGeom prst="rect">
            <a:avLst/>
          </a:prstGeom>
          <a:noFill/>
        </p:spPr>
        <p:txBody>
          <a:bodyPr wrap="square" lIns="73152" rIns="54864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425"/>
              </a:spcAft>
            </a:pPr>
            <a:r>
              <a:rPr sz="1220" b="0">
                <a:solidFill>
                  <a:srgbClr val="212936"/>
                </a:solidFill>
                <a:latin typeface="Noto Sans CJK SC"/>
                <a:ea typeface="Noto Sans CJK SC"/>
                <a:cs typeface="Microsoft YaHei"/>
              </a:rPr>
              <a:t>Doctor / discover / perf-profile / perf-diff</a:t>
            </a:r>
          </a:p>
          <a:p>
            <a:pPr>
              <a:lnSpc>
                <a:spcPct val="105000"/>
              </a:lnSpc>
              <a:spcAft>
                <a:spcPts val="425"/>
              </a:spcAft>
            </a:pPr>
            <a:r>
              <a:rPr sz="1220" b="0">
                <a:solidFill>
                  <a:srgbClr val="212936"/>
                </a:solidFill>
                <a:latin typeface="Noto Sans CJK SC"/>
                <a:ea typeface="Noto Sans CJK SC"/>
                <a:cs typeface="Microsoft YaHei"/>
              </a:rPr>
              <a:t>后台 job 与日志 tail</a:t>
            </a:r>
          </a:p>
          <a:p>
            <a:pPr>
              <a:lnSpc>
                <a:spcPct val="105000"/>
              </a:lnSpc>
              <a:spcAft>
                <a:spcPts val="425"/>
              </a:spcAft>
            </a:pPr>
            <a:r>
              <a:rPr sz="1220" b="0">
                <a:solidFill>
                  <a:srgbClr val="212936"/>
                </a:solidFill>
                <a:latin typeface="Noto Sans CJK SC"/>
                <a:ea typeface="Noto Sans CJK SC"/>
                <a:cs typeface="Microsoft YaHei"/>
              </a:rPr>
              <a:t>report API 和 artifact API</a:t>
            </a:r>
          </a:p>
          <a:p>
            <a:pPr>
              <a:lnSpc>
                <a:spcPct val="105000"/>
              </a:lnSpc>
              <a:spcAft>
                <a:spcPts val="425"/>
              </a:spcAft>
            </a:pPr>
            <a:r>
              <a:rPr sz="1220" b="0">
                <a:solidFill>
                  <a:srgbClr val="212936"/>
                </a:solidFill>
                <a:latin typeface="Noto Sans CJK SC"/>
                <a:ea typeface="Noto Sans CJK SC"/>
                <a:cs typeface="Microsoft YaHei"/>
              </a:rPr>
              <a:t>flamegraph 横向滚动展示</a:t>
            </a:r>
          </a:p>
          <a:p>
            <a:pPr>
              <a:lnSpc>
                <a:spcPct val="105000"/>
              </a:lnSpc>
              <a:spcAft>
                <a:spcPts val="425"/>
              </a:spcAft>
            </a:pPr>
            <a:r>
              <a:rPr sz="1220" b="0">
                <a:solidFill>
                  <a:srgbClr val="212936"/>
                </a:solidFill>
                <a:latin typeface="Noto Sans CJK SC"/>
                <a:ea typeface="Noto Sans CJK SC"/>
                <a:cs typeface="Microsoft YaHei"/>
              </a:rPr>
              <a:t>限制同一时间一个重任务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510528"/>
            <a:ext cx="256032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50" b="0">
                <a:solidFill>
                  <a:srgbClr val="606F80"/>
                </a:solidFill>
                <a:latin typeface="Noto Sans CJK SC"/>
                <a:ea typeface="Noto Sans CJK SC"/>
                <a:cs typeface="Microsoft YaHei"/>
              </a:rPr>
              <a:t>AI-Harness 答辩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00232" y="6510528"/>
            <a:ext cx="694944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850" b="0">
                <a:solidFill>
                  <a:srgbClr val="606F80"/>
                </a:solidFill>
                <a:latin typeface="Noto Sans CJK SC"/>
                <a:ea typeface="Noto Sans CJK SC"/>
                <a:cs typeface="Microsoft YaHei"/>
              </a:rPr>
              <a:t>15/23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64592"/>
          </a:xfrm>
          <a:prstGeom prst="rect">
            <a:avLst/>
          </a:prstGeom>
          <a:solidFill>
            <a:srgbClr val="12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0" y="237744"/>
            <a:ext cx="228600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850" b="0">
                <a:solidFill>
                  <a:srgbClr val="606F80"/>
                </a:solidFill>
                <a:latin typeface="Noto Sans CJK SC"/>
                <a:ea typeface="Noto Sans CJK SC"/>
                <a:cs typeface="Microsoft YaHei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29184"/>
            <a:ext cx="210312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50" b="1">
                <a:solidFill>
                  <a:srgbClr val="00A6B5"/>
                </a:solidFill>
                <a:latin typeface="Noto Sans CJK SC"/>
                <a:ea typeface="Noto Sans CJK SC"/>
                <a:cs typeface="Microsoft YaHei"/>
              </a:rPr>
              <a:t>RELIABILITY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30352"/>
            <a:ext cx="8046720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>
                <a:solidFill>
                  <a:srgbClr val="121820"/>
                </a:solidFill>
                <a:latin typeface="Noto Sans CJK SC"/>
                <a:ea typeface="Noto Sans CJK SC"/>
                <a:cs typeface="Microsoft YaHei"/>
              </a:rPr>
              <a:t>可信性设计：让自动化结果可以被审计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051560"/>
            <a:ext cx="8046720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0">
                <a:solidFill>
                  <a:srgbClr val="606F80"/>
                </a:solidFill>
                <a:latin typeface="Noto Sans CJK SC"/>
                <a:ea typeface="Noto Sans CJK SC"/>
                <a:cs typeface="Microsoft YaHei"/>
              </a:rPr>
              <a:t>关键不是“能跑”，而是跑出的差异、热点和建议能被复核。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35024"/>
            <a:ext cx="1051560" cy="41148"/>
          </a:xfrm>
          <a:prstGeom prst="rect">
            <a:avLst/>
          </a:prstGeom>
          <a:solidFill>
            <a:srgbClr val="EF9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41248" y="1682496"/>
            <a:ext cx="256032" cy="256032"/>
          </a:xfrm>
          <a:prstGeom prst="ellipse">
            <a:avLst/>
          </a:prstGeom>
          <a:solidFill>
            <a:srgbClr val="22A3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43584" y="1572768"/>
            <a:ext cx="182880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21820"/>
                </a:solidFill>
                <a:latin typeface="Noto Sans CJK SC"/>
                <a:ea typeface="Noto Sans CJK SC"/>
                <a:cs typeface="Microsoft YaHei"/>
              </a:rPr>
              <a:t>环境一致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44368" y="1591056"/>
            <a:ext cx="8138160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0">
                <a:solidFill>
                  <a:srgbClr val="212936"/>
                </a:solidFill>
                <a:latin typeface="Noto Sans CJK SC"/>
                <a:ea typeface="Noto Sans CJK SC"/>
                <a:cs typeface="Microsoft YaHei"/>
              </a:rPr>
              <a:t>StarryOS build / rootfs / QEMU / qperf 全部在 Docker 中执行</a:t>
            </a:r>
          </a:p>
        </p:txBody>
      </p:sp>
      <p:sp>
        <p:nvSpPr>
          <p:cNvPr id="11" name="Oval 10"/>
          <p:cNvSpPr/>
          <p:nvPr/>
        </p:nvSpPr>
        <p:spPr>
          <a:xfrm>
            <a:off x="841248" y="2487168"/>
            <a:ext cx="256032" cy="256032"/>
          </a:xfrm>
          <a:prstGeom prst="ellipse">
            <a:avLst/>
          </a:prstGeom>
          <a:solidFill>
            <a:srgbClr val="00A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43584" y="2377440"/>
            <a:ext cx="182880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21820"/>
                </a:solidFill>
                <a:latin typeface="Noto Sans CJK SC"/>
                <a:ea typeface="Noto Sans CJK SC"/>
                <a:cs typeface="Microsoft YaHei"/>
              </a:rPr>
              <a:t>稳定输入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44368" y="2395728"/>
            <a:ext cx="8138160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0">
                <a:solidFill>
                  <a:srgbClr val="212936"/>
                </a:solidFill>
                <a:latin typeface="Noto Sans CJK SC"/>
                <a:ea typeface="Noto Sans CJK SC"/>
                <a:cs typeface="Microsoft YaHei"/>
              </a:rPr>
              <a:t>probe 只输出语义字段，避免地址、fd 编号、时间戳和调度时序</a:t>
            </a:r>
          </a:p>
        </p:txBody>
      </p:sp>
      <p:sp>
        <p:nvSpPr>
          <p:cNvPr id="14" name="Oval 13"/>
          <p:cNvSpPr/>
          <p:nvPr/>
        </p:nvSpPr>
        <p:spPr>
          <a:xfrm>
            <a:off x="841248" y="3291840"/>
            <a:ext cx="256032" cy="256032"/>
          </a:xfrm>
          <a:prstGeom prst="ellipse">
            <a:avLst/>
          </a:prstGeom>
          <a:solidFill>
            <a:srgbClr val="446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43584" y="3182112"/>
            <a:ext cx="182880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21820"/>
                </a:solidFill>
                <a:latin typeface="Noto Sans CJK SC"/>
                <a:ea typeface="Noto Sans CJK SC"/>
                <a:cs typeface="Microsoft YaHei"/>
              </a:rPr>
              <a:t>真实基线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44368" y="3200400"/>
            <a:ext cx="8138160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0">
                <a:solidFill>
                  <a:srgbClr val="212936"/>
                </a:solidFill>
                <a:latin typeface="Noto Sans CJK SC"/>
                <a:ea typeface="Noto Sans CJK SC"/>
                <a:cs typeface="Microsoft YaHei"/>
              </a:rPr>
              <a:t>Linux probe 输出作为参考；差异默认修 StarryOS 实现</a:t>
            </a:r>
          </a:p>
        </p:txBody>
      </p:sp>
      <p:sp>
        <p:nvSpPr>
          <p:cNvPr id="17" name="Oval 16"/>
          <p:cNvSpPr/>
          <p:nvPr/>
        </p:nvSpPr>
        <p:spPr>
          <a:xfrm>
            <a:off x="841248" y="4096512"/>
            <a:ext cx="256032" cy="256032"/>
          </a:xfrm>
          <a:prstGeom prst="ellipse">
            <a:avLst/>
          </a:prstGeom>
          <a:solidFill>
            <a:srgbClr val="EF9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43584" y="3986784"/>
            <a:ext cx="182880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21820"/>
                </a:solidFill>
                <a:latin typeface="Noto Sans CJK SC"/>
                <a:ea typeface="Noto Sans CJK SC"/>
                <a:cs typeface="Microsoft YaHei"/>
              </a:rPr>
              <a:t>证据优先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44368" y="4005072"/>
            <a:ext cx="8138160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0">
                <a:solidFill>
                  <a:srgbClr val="212936"/>
                </a:solidFill>
                <a:latin typeface="Noto Sans CJK SC"/>
                <a:ea typeface="Noto Sans CJK SC"/>
                <a:cs typeface="Microsoft YaHei"/>
              </a:rPr>
              <a:t>报告、stdout/stderr、qemu.toml、rootfs、flamegraph 全部落盘</a:t>
            </a:r>
          </a:p>
        </p:txBody>
      </p:sp>
      <p:sp>
        <p:nvSpPr>
          <p:cNvPr id="20" name="Oval 19"/>
          <p:cNvSpPr/>
          <p:nvPr/>
        </p:nvSpPr>
        <p:spPr>
          <a:xfrm>
            <a:off x="841248" y="4901184"/>
            <a:ext cx="256032" cy="256032"/>
          </a:xfrm>
          <a:prstGeom prst="ellipse">
            <a:avLst/>
          </a:prstGeom>
          <a:solidFill>
            <a:srgbClr val="7F53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43584" y="4791456"/>
            <a:ext cx="182880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21820"/>
                </a:solidFill>
                <a:latin typeface="Noto Sans CJK SC"/>
                <a:ea typeface="Noto Sans CJK SC"/>
                <a:cs typeface="Microsoft YaHei"/>
              </a:rPr>
              <a:t>性能克制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44368" y="4809744"/>
            <a:ext cx="8138160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0">
                <a:solidFill>
                  <a:srgbClr val="212936"/>
                </a:solidFill>
                <a:latin typeface="Noto Sans CJK SC"/>
                <a:ea typeface="Noto Sans CJK SC"/>
                <a:cs typeface="Microsoft YaHei"/>
              </a:rPr>
              <a:t>fix candidates 是规则线索，必须结合代码审查和 perf-diff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806440"/>
            <a:ext cx="1033272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121820"/>
                </a:solidFill>
                <a:latin typeface="Noto Sans CJK SC"/>
                <a:ea typeface="Noto Sans CJK SC"/>
                <a:cs typeface="Microsoft YaHei"/>
              </a:rPr>
              <a:t>输出可信的前提：自动化必须保留足够上下文，让人能质疑、复现和修正。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6510528"/>
            <a:ext cx="256032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50" b="0">
                <a:solidFill>
                  <a:srgbClr val="606F80"/>
                </a:solidFill>
                <a:latin typeface="Noto Sans CJK SC"/>
                <a:ea typeface="Noto Sans CJK SC"/>
                <a:cs typeface="Microsoft YaHei"/>
              </a:rPr>
              <a:t>AI-Harness 答辩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0232" y="6510528"/>
            <a:ext cx="694944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850" b="0">
                <a:solidFill>
                  <a:srgbClr val="606F80"/>
                </a:solidFill>
                <a:latin typeface="Noto Sans CJK SC"/>
                <a:ea typeface="Noto Sans CJK SC"/>
                <a:cs typeface="Microsoft YaHei"/>
              </a:rPr>
              <a:t>16/23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64592"/>
          </a:xfrm>
          <a:prstGeom prst="rect">
            <a:avLst/>
          </a:prstGeom>
          <a:solidFill>
            <a:srgbClr val="12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0" y="237744"/>
            <a:ext cx="228600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850" b="0">
                <a:solidFill>
                  <a:srgbClr val="606F80"/>
                </a:solidFill>
                <a:latin typeface="Noto Sans CJK SC"/>
                <a:ea typeface="Noto Sans CJK SC"/>
                <a:cs typeface="Microsoft YaHei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29184"/>
            <a:ext cx="210312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50" b="1">
                <a:solidFill>
                  <a:srgbClr val="00A6B5"/>
                </a:solidFill>
                <a:latin typeface="Noto Sans CJK SC"/>
                <a:ea typeface="Noto Sans CJK SC"/>
                <a:cs typeface="Microsoft YaHei"/>
              </a:rPr>
              <a:t>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30352"/>
            <a:ext cx="8046720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>
                <a:solidFill>
                  <a:srgbClr val="121820"/>
                </a:solidFill>
                <a:latin typeface="Noto Sans CJK SC"/>
                <a:ea typeface="Noto Sans CJK SC"/>
                <a:cs typeface="Microsoft YaHei"/>
              </a:rPr>
              <a:t>实验与验证：本地 harness 入口可用，latest 报告完整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051560"/>
            <a:ext cx="8046720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0">
                <a:solidFill>
                  <a:srgbClr val="606F80"/>
                </a:solidFill>
                <a:latin typeface="Noto Sans CJK SC"/>
                <a:ea typeface="Noto Sans CJK SC"/>
                <a:cs typeface="Microsoft YaHei"/>
              </a:rPr>
              <a:t>本轮执行 doctor 与 perf-diff 自比较；展示数据来自 target/starry-syscall-harness/latest 报告。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35024"/>
            <a:ext cx="1051560" cy="41148"/>
          </a:xfrm>
          <a:prstGeom prst="rect">
            <a:avLst/>
          </a:prstGeom>
          <a:solidFill>
            <a:srgbClr val="EF9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76656" y="1664208"/>
            <a:ext cx="2395728" cy="166420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83664"/>
            <a:ext cx="164592" cy="164592"/>
          </a:xfrm>
          <a:prstGeom prst="ellipse">
            <a:avLst/>
          </a:prstGeom>
          <a:solidFill>
            <a:srgbClr val="22A3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2157984"/>
            <a:ext cx="1993392" cy="49377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21820"/>
                </a:solidFill>
                <a:latin typeface="Noto Sans CJK SC"/>
                <a:ea typeface="Noto Sans CJK SC"/>
                <a:cs typeface="Microsoft YaHei"/>
              </a:rPr>
              <a:t>3/3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688336"/>
            <a:ext cx="1956816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1">
                <a:solidFill>
                  <a:srgbClr val="212936"/>
                </a:solidFill>
                <a:latin typeface="Noto Sans CJK SC"/>
                <a:ea typeface="Noto Sans CJK SC"/>
                <a:cs typeface="Microsoft YaHei"/>
              </a:rPr>
              <a:t>doctor checks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3017520"/>
            <a:ext cx="1956816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50" b="0">
                <a:solidFill>
                  <a:srgbClr val="606F80"/>
                </a:solidFill>
                <a:latin typeface="Noto Sans CJK SC"/>
                <a:ea typeface="Noto Sans CJK SC"/>
                <a:cs typeface="Microsoft YaHei"/>
              </a:rPr>
              <a:t>Docker / image / tools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10128" y="1664208"/>
            <a:ext cx="2395728" cy="166420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11296" y="1883664"/>
            <a:ext cx="164592" cy="164592"/>
          </a:xfrm>
          <a:prstGeom prst="ellipse">
            <a:avLst/>
          </a:prstGeom>
          <a:solidFill>
            <a:srgbClr val="00A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11296" y="2157984"/>
            <a:ext cx="1993392" cy="49377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21820"/>
                </a:solidFill>
                <a:latin typeface="Noto Sans CJK SC"/>
                <a:ea typeface="Noto Sans CJK SC"/>
                <a:cs typeface="Microsoft YaHei"/>
              </a:rP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9584" y="2688336"/>
            <a:ext cx="1956816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1">
                <a:solidFill>
                  <a:srgbClr val="212936"/>
                </a:solidFill>
                <a:latin typeface="Noto Sans CJK SC"/>
                <a:ea typeface="Noto Sans CJK SC"/>
                <a:cs typeface="Microsoft YaHei"/>
              </a:rPr>
              <a:t>syscall diffs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9584" y="3017520"/>
            <a:ext cx="1956816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50" b="0">
                <a:solidFill>
                  <a:srgbClr val="606F80"/>
                </a:solidFill>
                <a:latin typeface="Noto Sans CJK SC"/>
                <a:ea typeface="Noto Sans CJK SC"/>
                <a:cs typeface="Microsoft YaHei"/>
              </a:rPr>
              <a:t>riscv64 + x86_64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0" y="1664208"/>
            <a:ext cx="2395728" cy="166420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144768" y="1883664"/>
            <a:ext cx="164592" cy="164592"/>
          </a:xfrm>
          <a:prstGeom prst="ellipse">
            <a:avLst/>
          </a:prstGeom>
          <a:solidFill>
            <a:srgbClr val="EF9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44768" y="2157984"/>
            <a:ext cx="1993392" cy="49377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21820"/>
                </a:solidFill>
                <a:latin typeface="Noto Sans CJK SC"/>
                <a:ea typeface="Noto Sans CJK SC"/>
                <a:cs typeface="Microsoft YaHei"/>
              </a:rPr>
              <a:t>1255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63056" y="2688336"/>
            <a:ext cx="1956816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1">
                <a:solidFill>
                  <a:srgbClr val="212936"/>
                </a:solidFill>
                <a:latin typeface="Noto Sans CJK SC"/>
                <a:ea typeface="Noto Sans CJK SC"/>
                <a:cs typeface="Microsoft YaHei"/>
              </a:rPr>
              <a:t>qperf samples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63056" y="3017520"/>
            <a:ext cx="1956816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50" b="0">
                <a:solidFill>
                  <a:srgbClr val="606F80"/>
                </a:solidFill>
                <a:latin typeface="Noto Sans CJK SC"/>
                <a:ea typeface="Noto Sans CJK SC"/>
                <a:cs typeface="Microsoft YaHei"/>
              </a:rPr>
              <a:t>riscv64, release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577072" y="1664208"/>
            <a:ext cx="2395728" cy="166420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778240" y="1883664"/>
            <a:ext cx="164592" cy="164592"/>
          </a:xfrm>
          <a:prstGeom prst="ellipse">
            <a:avLst/>
          </a:prstGeom>
          <a:solidFill>
            <a:srgbClr val="446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78240" y="2157984"/>
            <a:ext cx="1993392" cy="49377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21820"/>
                </a:solidFill>
                <a:latin typeface="Noto Sans CJK SC"/>
                <a:ea typeface="Noto Sans CJK SC"/>
                <a:cs typeface="Microsoft YaHei"/>
              </a:rPr>
              <a:t>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96528" y="2688336"/>
            <a:ext cx="1956816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1">
                <a:solidFill>
                  <a:srgbClr val="212936"/>
                </a:solidFill>
                <a:latin typeface="Noto Sans CJK SC"/>
                <a:ea typeface="Noto Sans CJK SC"/>
                <a:cs typeface="Microsoft YaHei"/>
              </a:rPr>
              <a:t>perf-diff entry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96528" y="3017520"/>
            <a:ext cx="1956816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50" b="0">
                <a:solidFill>
                  <a:srgbClr val="606F80"/>
                </a:solidFill>
                <a:latin typeface="Noto Sans CJK SC"/>
                <a:ea typeface="Noto Sans CJK SC"/>
                <a:cs typeface="Microsoft YaHei"/>
              </a:rPr>
              <a:t>self compare delta 0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1115568" y="3822191"/>
          <a:ext cx="9930384" cy="1298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2596"/>
                <a:gridCol w="2482596"/>
                <a:gridCol w="2482596"/>
                <a:gridCol w="2482596"/>
              </a:tblGrid>
              <a:tr h="324612">
                <a:tc>
                  <a:txBody>
                    <a:bodyPr lIns="54864" rIns="36576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Microsoft YaHei"/>
                        </a:rPr>
                        <a:t>项目</a:t>
                      </a:r>
                    </a:p>
                  </a:txBody>
                  <a:tcPr anchor="ctr">
                    <a:solidFill>
                      <a:srgbClr val="121820"/>
                    </a:solidFill>
                  </a:tcPr>
                </a:tc>
                <a:tc>
                  <a:txBody>
                    <a:bodyPr lIns="54864" rIns="36576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Microsoft YaHei"/>
                        </a:rPr>
                        <a:t>样本 / case</a:t>
                      </a:r>
                    </a:p>
                  </a:txBody>
                  <a:tcPr anchor="ctr">
                    <a:solidFill>
                      <a:srgbClr val="121820"/>
                    </a:solidFill>
                  </a:tcPr>
                </a:tc>
                <a:tc>
                  <a:txBody>
                    <a:bodyPr lIns="54864" rIns="36576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Microsoft YaHei"/>
                        </a:rPr>
                        <a:t>结果</a:t>
                      </a:r>
                    </a:p>
                  </a:txBody>
                  <a:tcPr anchor="ctr">
                    <a:solidFill>
                      <a:srgbClr val="121820"/>
                    </a:solidFill>
                  </a:tcPr>
                </a:tc>
                <a:tc>
                  <a:txBody>
                    <a:bodyPr lIns="54864" rIns="36576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Microsoft YaHei"/>
                        </a:rPr>
                        <a:t>完整性</a:t>
                      </a:r>
                    </a:p>
                  </a:txBody>
                  <a:tcPr anchor="ctr">
                    <a:solidFill>
                      <a:srgbClr val="121820"/>
                    </a:solidFill>
                  </a:tcPr>
                </a:tc>
              </a:tr>
              <a:tr h="324612">
                <a:tc>
                  <a:txBody>
                    <a:bodyPr lIns="54864" rIns="36576"/>
                    <a:lstStyle/>
                    <a:p>
                      <a:pPr algn="l"/>
                      <a:r>
                        <a:rPr sz="1040" b="1">
                          <a:solidFill>
                            <a:srgbClr val="212936"/>
                          </a:solidFill>
                          <a:latin typeface="Noto Sans CJK SC"/>
                          <a:ea typeface="Noto Sans CJK SC"/>
                          <a:cs typeface="Microsoft YaHei"/>
                        </a:rPr>
                        <a:t>riscv64 syscall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54864" rIns="36576"/>
                    <a:lstStyle/>
                    <a:p>
                      <a:pPr algn="ctr"/>
                      <a:r>
                        <a:rPr sz="1040" b="0">
                          <a:solidFill>
                            <a:srgbClr val="212936"/>
                          </a:solidFill>
                          <a:latin typeface="Noto Sans CJK SC"/>
                          <a:ea typeface="Noto Sans CJK SC"/>
                          <a:cs typeface="Microsoft YaHei"/>
                        </a:rP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54864" rIns="36576"/>
                    <a:lstStyle/>
                    <a:p>
                      <a:pPr algn="ctr"/>
                      <a:r>
                        <a:rPr sz="1040" b="0">
                          <a:solidFill>
                            <a:srgbClr val="212936"/>
                          </a:solidFill>
                          <a:latin typeface="Noto Sans CJK SC"/>
                          <a:ea typeface="Noto Sans CJK SC"/>
                          <a:cs typeface="Microsoft YaHei"/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54864" rIns="36576"/>
                    <a:lstStyle/>
                    <a:p>
                      <a:pPr algn="ctr"/>
                      <a:r>
                        <a:rPr sz="1040" b="0">
                          <a:solidFill>
                            <a:srgbClr val="212936"/>
                          </a:solidFill>
                          <a:latin typeface="Noto Sans CJK SC"/>
                          <a:ea typeface="Noto Sans CJK SC"/>
                          <a:cs typeface="Microsoft YaHei"/>
                        </a:rPr>
                        <a:t>True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 lIns="54864" rIns="36576"/>
                    <a:lstStyle/>
                    <a:p>
                      <a:pPr algn="l"/>
                      <a:r>
                        <a:rPr sz="1040" b="1">
                          <a:solidFill>
                            <a:srgbClr val="212936"/>
                          </a:solidFill>
                          <a:latin typeface="Noto Sans CJK SC"/>
                          <a:ea typeface="Noto Sans CJK SC"/>
                          <a:cs typeface="Microsoft YaHei"/>
                        </a:rPr>
                        <a:t>x86_64 syscall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 lIns="54864" rIns="36576"/>
                    <a:lstStyle/>
                    <a:p>
                      <a:pPr algn="ctr"/>
                      <a:r>
                        <a:rPr sz="1040" b="0">
                          <a:solidFill>
                            <a:srgbClr val="212936"/>
                          </a:solidFill>
                          <a:latin typeface="Noto Sans CJK SC"/>
                          <a:ea typeface="Noto Sans CJK SC"/>
                          <a:cs typeface="Microsoft YaHei"/>
                        </a:rPr>
                        <a:t>6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 lIns="54864" rIns="36576"/>
                    <a:lstStyle/>
                    <a:p>
                      <a:pPr algn="ctr"/>
                      <a:r>
                        <a:rPr sz="1040" b="0">
                          <a:solidFill>
                            <a:srgbClr val="212936"/>
                          </a:solidFill>
                          <a:latin typeface="Noto Sans CJK SC"/>
                          <a:ea typeface="Noto Sans CJK SC"/>
                          <a:cs typeface="Microsoft YaHei"/>
                        </a:rPr>
                        <a:t>0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 lIns="54864" rIns="36576"/>
                    <a:lstStyle/>
                    <a:p>
                      <a:pPr algn="ctr"/>
                      <a:r>
                        <a:rPr sz="1040" b="0">
                          <a:solidFill>
                            <a:srgbClr val="212936"/>
                          </a:solidFill>
                          <a:latin typeface="Noto Sans CJK SC"/>
                          <a:ea typeface="Noto Sans CJK SC"/>
                          <a:cs typeface="Microsoft YaHei"/>
                        </a:rPr>
                        <a:t>True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</a:tr>
              <a:tr h="324612">
                <a:tc>
                  <a:txBody>
                    <a:bodyPr lIns="54864" rIns="36576"/>
                    <a:lstStyle/>
                    <a:p>
                      <a:pPr algn="l"/>
                      <a:r>
                        <a:rPr sz="1040" b="1">
                          <a:solidFill>
                            <a:srgbClr val="212936"/>
                          </a:solidFill>
                          <a:latin typeface="Noto Sans CJK SC"/>
                          <a:ea typeface="Noto Sans CJK SC"/>
                          <a:cs typeface="Microsoft YaHei"/>
                        </a:rPr>
                        <a:t>riscv64 qperf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54864" rIns="36576"/>
                    <a:lstStyle/>
                    <a:p>
                      <a:pPr algn="ctr"/>
                      <a:r>
                        <a:rPr sz="1040" b="0">
                          <a:solidFill>
                            <a:srgbClr val="212936"/>
                          </a:solidFill>
                          <a:latin typeface="Noto Sans CJK SC"/>
                          <a:ea typeface="Noto Sans CJK SC"/>
                          <a:cs typeface="Microsoft YaHei"/>
                        </a:rPr>
                        <a:t>1255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54864" rIns="36576"/>
                    <a:lstStyle/>
                    <a:p>
                      <a:pPr algn="ctr"/>
                      <a:r>
                        <a:rPr sz="1040" b="0">
                          <a:solidFill>
                            <a:srgbClr val="212936"/>
                          </a:solidFill>
                          <a:latin typeface="Noto Sans CJK SC"/>
                          <a:ea typeface="Noto Sans CJK SC"/>
                          <a:cs typeface="Microsoft YaHei"/>
                        </a:rPr>
                        <a:t>ok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54864" rIns="36576"/>
                    <a:lstStyle/>
                    <a:p>
                      <a:pPr algn="ctr"/>
                      <a:r>
                        <a:rPr sz="1040" b="0">
                          <a:solidFill>
                            <a:srgbClr val="212936"/>
                          </a:solidFill>
                          <a:latin typeface="Noto Sans CJK SC"/>
                          <a:ea typeface="Noto Sans CJK SC"/>
                          <a:cs typeface="Microsoft YaHei"/>
                        </a:rPr>
                        <a:t>true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859536" y="5596128"/>
            <a:ext cx="10515600" cy="40233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80" b="0">
                <a:solidFill>
                  <a:srgbClr val="606F80"/>
                </a:solidFill>
                <a:latin typeface="Noto Sans CJK SC"/>
                <a:ea typeface="Noto Sans CJK SC"/>
                <a:cs typeface="Microsoft YaHei"/>
              </a:rPr>
              <a:t>注意：性能 profile 的 plugin shutdown summary 可能因 timeout 不可用，harness 仍保留 qperf.bin、folded stack、flamegraph 和 report.json。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510528"/>
            <a:ext cx="256032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50" b="0">
                <a:solidFill>
                  <a:srgbClr val="606F80"/>
                </a:solidFill>
                <a:latin typeface="Noto Sans CJK SC"/>
                <a:ea typeface="Noto Sans CJK SC"/>
                <a:cs typeface="Microsoft YaHei"/>
              </a:rPr>
              <a:t>AI-Harness 答辩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00232" y="6510528"/>
            <a:ext cx="694944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850" b="0">
                <a:solidFill>
                  <a:srgbClr val="606F80"/>
                </a:solidFill>
                <a:latin typeface="Noto Sans CJK SC"/>
                <a:ea typeface="Noto Sans CJK SC"/>
                <a:cs typeface="Microsoft YaHei"/>
              </a:rPr>
              <a:t>17/23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64592"/>
          </a:xfrm>
          <a:prstGeom prst="rect">
            <a:avLst/>
          </a:prstGeom>
          <a:solidFill>
            <a:srgbClr val="12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0" y="237744"/>
            <a:ext cx="228600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850" b="0">
                <a:solidFill>
                  <a:srgbClr val="606F80"/>
                </a:solidFill>
                <a:latin typeface="Noto Sans CJK SC"/>
                <a:ea typeface="Noto Sans CJK SC"/>
                <a:cs typeface="Microsoft YaHei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29184"/>
            <a:ext cx="210312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50" b="1">
                <a:solidFill>
                  <a:srgbClr val="00A6B5"/>
                </a:solidFill>
                <a:latin typeface="Noto Sans CJK SC"/>
                <a:ea typeface="Noto Sans CJK SC"/>
                <a:cs typeface="Microsoft YaHei"/>
              </a:rPr>
              <a:t>HOTSPOTS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30352"/>
            <a:ext cx="8046720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>
                <a:solidFill>
                  <a:srgbClr val="121820"/>
                </a:solidFill>
                <a:latin typeface="Noto Sans CJK SC"/>
                <a:ea typeface="Noto Sans CJK SC"/>
                <a:cs typeface="Microsoft YaHei"/>
              </a:rPr>
              <a:t>qperf 结果示例：机器可读热点 + 人可读 flamegraph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051560"/>
            <a:ext cx="8046720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0">
                <a:solidFill>
                  <a:srgbClr val="606F80"/>
                </a:solidFill>
                <a:latin typeface="Noto Sans CJK SC"/>
                <a:ea typeface="Noto Sans CJK SC"/>
                <a:cs typeface="Microsoft YaHei"/>
              </a:rPr>
              <a:t>条形图来自 report.json top_functions；底部为实际 flamegraph SVG 转换后的证据图。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35024"/>
            <a:ext cx="1051560" cy="41148"/>
          </a:xfrm>
          <a:prstGeom prst="rect">
            <a:avLst/>
          </a:prstGeom>
          <a:solidFill>
            <a:srgbClr val="EF9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64208"/>
            <a:ext cx="246888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80" b="0">
                <a:solidFill>
                  <a:srgbClr val="212936"/>
                </a:solidFill>
                <a:latin typeface="Noto Sans CJK SC"/>
                <a:ea typeface="Noto Sans CJK SC"/>
                <a:cs typeface="Microsoft YaHei"/>
              </a:rPr>
              <a:t>_start+0x1000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0" y="1682496"/>
            <a:ext cx="6126480" cy="182880"/>
          </a:xfrm>
          <a:prstGeom prst="rect">
            <a:avLst/>
          </a:prstGeom>
          <a:solidFill>
            <a:srgbClr val="E8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74720" y="1682496"/>
            <a:ext cx="6126480" cy="182880"/>
          </a:xfrm>
          <a:prstGeom prst="rect">
            <a:avLst/>
          </a:prstGeom>
          <a:solidFill>
            <a:srgbClr val="EF9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10928" y="1645920"/>
            <a:ext cx="114300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60" b="0">
                <a:solidFill>
                  <a:srgbClr val="606F80"/>
                </a:solidFill>
                <a:latin typeface="Noto Sans CJK SC"/>
                <a:ea typeface="Noto Sans CJK SC"/>
                <a:cs typeface="Microsoft YaHei"/>
              </a:rPr>
              <a:t>69.96% / 878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103120"/>
            <a:ext cx="246888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80" b="0">
                <a:solidFill>
                  <a:srgbClr val="212936"/>
                </a:solidFill>
                <a:latin typeface="Noto Sans CJK SC"/>
                <a:ea typeface="Noto Sans CJK SC"/>
                <a:cs typeface="Microsoft YaHei"/>
              </a:rPr>
              <a:t>0x800065ae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74720" y="2121408"/>
            <a:ext cx="6126480" cy="182880"/>
          </a:xfrm>
          <a:prstGeom prst="rect">
            <a:avLst/>
          </a:prstGeom>
          <a:solidFill>
            <a:srgbClr val="E8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74720" y="2121408"/>
            <a:ext cx="767550" cy="182880"/>
          </a:xfrm>
          <a:prstGeom prst="rect">
            <a:avLst/>
          </a:prstGeom>
          <a:solidFill>
            <a:srgbClr val="00A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10928" y="2084832"/>
            <a:ext cx="114300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60" b="0">
                <a:solidFill>
                  <a:srgbClr val="606F80"/>
                </a:solidFill>
                <a:latin typeface="Noto Sans CJK SC"/>
                <a:ea typeface="Noto Sans CJK SC"/>
                <a:cs typeface="Microsoft YaHei"/>
              </a:rPr>
              <a:t>8.76% / 110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2542032"/>
            <a:ext cx="246888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80" b="0">
                <a:solidFill>
                  <a:srgbClr val="212936"/>
                </a:solidFill>
                <a:latin typeface="Noto Sans CJK SC"/>
                <a:ea typeface="Noto Sans CJK SC"/>
                <a:cs typeface="Microsoft YaHei"/>
              </a:rPr>
              <a:t>VirtQueue::add_notify_wait_pop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74720" y="2560320"/>
            <a:ext cx="6126480" cy="182880"/>
          </a:xfrm>
          <a:prstGeom prst="rect">
            <a:avLst/>
          </a:prstGeom>
          <a:solidFill>
            <a:srgbClr val="E8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74720" y="2560320"/>
            <a:ext cx="48847" cy="182880"/>
          </a:xfrm>
          <a:prstGeom prst="rect">
            <a:avLst/>
          </a:prstGeom>
          <a:solidFill>
            <a:srgbClr val="00A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10928" y="2523744"/>
            <a:ext cx="114300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60" b="0">
                <a:solidFill>
                  <a:srgbClr val="606F80"/>
                </a:solidFill>
                <a:latin typeface="Noto Sans CJK SC"/>
                <a:ea typeface="Noto Sans CJK SC"/>
                <a:cs typeface="Microsoft YaHei"/>
              </a:rPr>
              <a:t>0.56% / 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2980944"/>
            <a:ext cx="246888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80" b="0">
                <a:solidFill>
                  <a:srgbClr val="212936"/>
                </a:solidFill>
                <a:latin typeface="Noto Sans CJK SC"/>
                <a:ea typeface="Noto Sans CJK SC"/>
                <a:cs typeface="Microsoft YaHei"/>
              </a:rPr>
              <a:t>0x8000b160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74720" y="2999232"/>
            <a:ext cx="6126480" cy="182880"/>
          </a:xfrm>
          <a:prstGeom prst="rect">
            <a:avLst/>
          </a:prstGeom>
          <a:solidFill>
            <a:srgbClr val="E8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474720" y="2999232"/>
            <a:ext cx="41868" cy="182880"/>
          </a:xfrm>
          <a:prstGeom prst="rect">
            <a:avLst/>
          </a:prstGeom>
          <a:solidFill>
            <a:srgbClr val="00A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10928" y="2962656"/>
            <a:ext cx="114300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60" b="0">
                <a:solidFill>
                  <a:srgbClr val="606F80"/>
                </a:solidFill>
                <a:latin typeface="Noto Sans CJK SC"/>
                <a:ea typeface="Noto Sans CJK SC"/>
                <a:cs typeface="Microsoft YaHei"/>
              </a:rPr>
              <a:t>0.48% / 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3419856"/>
            <a:ext cx="246888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80" b="0">
                <a:solidFill>
                  <a:srgbClr val="212936"/>
                </a:solidFill>
                <a:latin typeface="Noto Sans CJK SC"/>
                <a:ea typeface="Noto Sans CJK SC"/>
                <a:cs typeface="Microsoft YaHei"/>
              </a:rPr>
              <a:t>memcpy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74720" y="3438144"/>
            <a:ext cx="6126480" cy="182880"/>
          </a:xfrm>
          <a:prstGeom prst="rect">
            <a:avLst/>
          </a:prstGeom>
          <a:solidFill>
            <a:srgbClr val="E8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474720" y="3438144"/>
            <a:ext cx="41868" cy="182880"/>
          </a:xfrm>
          <a:prstGeom prst="rect">
            <a:avLst/>
          </a:prstGeom>
          <a:solidFill>
            <a:srgbClr val="00A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10928" y="3401568"/>
            <a:ext cx="114300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60" b="0">
                <a:solidFill>
                  <a:srgbClr val="606F80"/>
                </a:solidFill>
                <a:latin typeface="Noto Sans CJK SC"/>
                <a:ea typeface="Noto Sans CJK SC"/>
                <a:cs typeface="Microsoft YaHei"/>
              </a:rPr>
              <a:t>0.48% / 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3858768"/>
            <a:ext cx="246888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80" b="0">
                <a:solidFill>
                  <a:srgbClr val="212936"/>
                </a:solidFill>
                <a:latin typeface="Noto Sans CJK SC"/>
                <a:ea typeface="Noto Sans CJK SC"/>
                <a:cs typeface="Microsoft YaHei"/>
              </a:rPr>
              <a:t>0x8000b04e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474720" y="3877056"/>
            <a:ext cx="6126480" cy="182880"/>
          </a:xfrm>
          <a:prstGeom prst="rect">
            <a:avLst/>
          </a:prstGeom>
          <a:solidFill>
            <a:srgbClr val="E8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474720" y="3877056"/>
            <a:ext cx="34888" cy="182880"/>
          </a:xfrm>
          <a:prstGeom prst="rect">
            <a:avLst/>
          </a:prstGeom>
          <a:solidFill>
            <a:srgbClr val="00A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10928" y="3840480"/>
            <a:ext cx="114300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60" b="0">
                <a:solidFill>
                  <a:srgbClr val="606F80"/>
                </a:solidFill>
                <a:latin typeface="Noto Sans CJK SC"/>
                <a:ea typeface="Noto Sans CJK SC"/>
                <a:cs typeface="Microsoft YaHei"/>
              </a:rPr>
              <a:t>0.40% / 5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28431" y="1591056"/>
            <a:ext cx="3090672" cy="24505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28431" y="1591056"/>
            <a:ext cx="73152" cy="2450592"/>
          </a:xfrm>
          <a:prstGeom prst="rect">
            <a:avLst/>
          </a:prstGeom>
          <a:solidFill>
            <a:srgbClr val="EF9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66175" y="1755648"/>
            <a:ext cx="2706624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21820"/>
                </a:solidFill>
                <a:latin typeface="Noto Sans CJK SC"/>
                <a:ea typeface="Noto Sans CJK SC"/>
                <a:cs typeface="Microsoft YaHei"/>
              </a:rPr>
              <a:t>解读方式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38743" y="2167128"/>
            <a:ext cx="2706624" cy="1755648"/>
          </a:xfrm>
          <a:prstGeom prst="rect">
            <a:avLst/>
          </a:prstGeom>
          <a:noFill/>
        </p:spPr>
        <p:txBody>
          <a:bodyPr wrap="square" lIns="73152" rIns="54864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425"/>
              </a:spcAft>
            </a:pPr>
            <a:r>
              <a:rPr sz="1110" b="0">
                <a:solidFill>
                  <a:srgbClr val="212936"/>
                </a:solidFill>
                <a:latin typeface="Noto Sans CJK SC"/>
                <a:ea typeface="Noto Sans CJK SC"/>
                <a:cs typeface="Microsoft YaHei"/>
              </a:rPr>
              <a:t>top_functions 用于排序和自动规则匹配</a:t>
            </a:r>
          </a:p>
          <a:p>
            <a:pPr>
              <a:lnSpc>
                <a:spcPct val="105000"/>
              </a:lnSpc>
              <a:spcAft>
                <a:spcPts val="425"/>
              </a:spcAft>
            </a:pPr>
            <a:r>
              <a:rPr sz="1110" b="0">
                <a:solidFill>
                  <a:srgbClr val="212936"/>
                </a:solidFill>
                <a:latin typeface="Noto Sans CJK SC"/>
                <a:ea typeface="Noto Sans CJK SC"/>
                <a:cs typeface="Microsoft YaHei"/>
              </a:rPr>
              <a:t>flamegraph 用于人工观察栈上下文</a:t>
            </a:r>
          </a:p>
          <a:p>
            <a:pPr>
              <a:lnSpc>
                <a:spcPct val="105000"/>
              </a:lnSpc>
              <a:spcAft>
                <a:spcPts val="425"/>
              </a:spcAft>
            </a:pPr>
            <a:r>
              <a:rPr sz="1110" b="0">
                <a:solidFill>
                  <a:srgbClr val="212936"/>
                </a:solidFill>
                <a:latin typeface="Noto Sans CJK SC"/>
                <a:ea typeface="Noto Sans CJK SC"/>
                <a:cs typeface="Microsoft YaHei"/>
              </a:rPr>
              <a:t>fix candidates 未越过当前阈值时不强行生成修复建议</a:t>
            </a:r>
          </a:p>
        </p:txBody>
      </p:sp>
      <p:pic>
        <p:nvPicPr>
          <p:cNvPr id="36" name="Picture 35" descr="flamegraph-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4334256"/>
            <a:ext cx="10844784" cy="2029968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566928" y="6510528"/>
            <a:ext cx="256032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50" b="0">
                <a:solidFill>
                  <a:srgbClr val="606F80"/>
                </a:solidFill>
                <a:latin typeface="Noto Sans CJK SC"/>
                <a:ea typeface="Noto Sans CJK SC"/>
                <a:cs typeface="Microsoft YaHei"/>
              </a:rPr>
              <a:t>AI-Harness 答辩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00232" y="6510528"/>
            <a:ext cx="694944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850" b="0">
                <a:solidFill>
                  <a:srgbClr val="606F80"/>
                </a:solidFill>
                <a:latin typeface="Noto Sans CJK SC"/>
                <a:ea typeface="Noto Sans CJK SC"/>
                <a:cs typeface="Microsoft YaHei"/>
              </a:rPr>
              <a:t>18/23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64592"/>
          </a:xfrm>
          <a:prstGeom prst="rect">
            <a:avLst/>
          </a:prstGeom>
          <a:solidFill>
            <a:srgbClr val="12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0" y="237744"/>
            <a:ext cx="228600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850" b="0">
                <a:solidFill>
                  <a:srgbClr val="606F80"/>
                </a:solidFill>
                <a:latin typeface="Noto Sans CJK SC"/>
                <a:ea typeface="Noto Sans CJK SC"/>
                <a:cs typeface="Microsoft YaHei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29184"/>
            <a:ext cx="210312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50" b="1">
                <a:solidFill>
                  <a:srgbClr val="00A6B5"/>
                </a:solidFill>
                <a:latin typeface="Noto Sans CJK SC"/>
                <a:ea typeface="Noto Sans CJK SC"/>
                <a:cs typeface="Microsoft YaHei"/>
              </a:rPr>
              <a:t>PROGRESS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30352"/>
            <a:ext cx="8046720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>
                <a:solidFill>
                  <a:srgbClr val="121820"/>
                </a:solidFill>
                <a:latin typeface="Noto Sans CJK SC"/>
                <a:ea typeface="Noto Sans CJK SC"/>
                <a:cs typeface="Microsoft YaHei"/>
              </a:rPr>
              <a:t>已完成工作量：从工具到协作路径的端到端建设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051560"/>
            <a:ext cx="8046720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0">
                <a:solidFill>
                  <a:srgbClr val="606F80"/>
                </a:solidFill>
                <a:latin typeface="Noto Sans CJK SC"/>
                <a:ea typeface="Noto Sans CJK SC"/>
                <a:cs typeface="Microsoft YaHei"/>
              </a:rPr>
              <a:t>覆盖 syscall harness、qperf、MCP/UI、skill/文档和 PR 工作流。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35024"/>
            <a:ext cx="1051560" cy="41148"/>
          </a:xfrm>
          <a:prstGeom prst="rect">
            <a:avLst/>
          </a:prstGeom>
          <a:solidFill>
            <a:srgbClr val="EF9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1627632"/>
            <a:ext cx="2578608" cy="4389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627632"/>
            <a:ext cx="2578608" cy="109728"/>
          </a:xfrm>
          <a:prstGeom prst="rect">
            <a:avLst/>
          </a:prstGeom>
          <a:solidFill>
            <a:srgbClr val="00A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901952"/>
            <a:ext cx="2212848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420" b="1">
                <a:solidFill>
                  <a:srgbClr val="121820"/>
                </a:solidFill>
                <a:latin typeface="Noto Sans CJK SC"/>
                <a:ea typeface="Noto Sans CJK SC"/>
                <a:cs typeface="Microsoft YaHei"/>
              </a:rPr>
              <a:t>Syscall Harness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395728"/>
            <a:ext cx="2157984" cy="2980944"/>
          </a:xfrm>
          <a:prstGeom prst="rect">
            <a:avLst/>
          </a:prstGeom>
          <a:noFill/>
        </p:spPr>
        <p:txBody>
          <a:bodyPr wrap="square" lIns="73152" rIns="54864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359"/>
              </a:spcAft>
            </a:pPr>
            <a:r>
              <a:rPr sz="1120" b="0">
                <a:solidFill>
                  <a:srgbClr val="212936"/>
                </a:solidFill>
                <a:latin typeface="Noto Sans CJK SC"/>
                <a:ea typeface="Noto Sans CJK SC"/>
                <a:cs typeface="Microsoft YaHei"/>
              </a:rPr>
              <a:t>• Docker re-exec</a:t>
            </a:r>
          </a:p>
          <a:p>
            <a:pPr>
              <a:lnSpc>
                <a:spcPct val="105000"/>
              </a:lnSpc>
              <a:spcAft>
                <a:spcPts val="359"/>
              </a:spcAft>
            </a:pPr>
            <a:r>
              <a:rPr sz="1120" b="0">
                <a:solidFill>
                  <a:srgbClr val="212936"/>
                </a:solidFill>
                <a:latin typeface="Noto Sans CJK SC"/>
                <a:ea typeface="Noto Sans CJK SC"/>
                <a:cs typeface="Microsoft YaHei"/>
              </a:rPr>
              <a:t>• Linux/Starry probe</a:t>
            </a:r>
          </a:p>
          <a:p>
            <a:pPr>
              <a:lnSpc>
                <a:spcPct val="105000"/>
              </a:lnSpc>
              <a:spcAft>
                <a:spcPts val="359"/>
              </a:spcAft>
            </a:pPr>
            <a:r>
              <a:rPr sz="1120" b="0">
                <a:solidFill>
                  <a:srgbClr val="212936"/>
                </a:solidFill>
                <a:latin typeface="Noto Sans CJK SC"/>
                <a:ea typeface="Noto Sans CJK SC"/>
                <a:cs typeface="Microsoft YaHei"/>
              </a:rPr>
              <a:t>• rootfs 注入</a:t>
            </a:r>
          </a:p>
          <a:p>
            <a:pPr>
              <a:lnSpc>
                <a:spcPct val="105000"/>
              </a:lnSpc>
              <a:spcAft>
                <a:spcPts val="359"/>
              </a:spcAft>
            </a:pPr>
            <a:r>
              <a:rPr sz="1120" b="0">
                <a:solidFill>
                  <a:srgbClr val="212936"/>
                </a:solidFill>
                <a:latin typeface="Noto Sans CJK SC"/>
                <a:ea typeface="Noto Sans CJK SC"/>
                <a:cs typeface="Microsoft YaHei"/>
              </a:rPr>
              <a:t>• QEMU config</a:t>
            </a:r>
          </a:p>
          <a:p>
            <a:pPr>
              <a:lnSpc>
                <a:spcPct val="105000"/>
              </a:lnSpc>
              <a:spcAft>
                <a:spcPts val="359"/>
              </a:spcAft>
            </a:pPr>
            <a:r>
              <a:rPr sz="1120" b="0">
                <a:solidFill>
                  <a:srgbClr val="212936"/>
                </a:solidFill>
                <a:latin typeface="Noto Sans CJK SC"/>
                <a:ea typeface="Noto Sans CJK SC"/>
                <a:cs typeface="Microsoft YaHei"/>
              </a:rPr>
              <a:t>• CASE diff</a:t>
            </a:r>
          </a:p>
          <a:p>
            <a:pPr>
              <a:lnSpc>
                <a:spcPct val="105000"/>
              </a:lnSpc>
              <a:spcAft>
                <a:spcPts val="359"/>
              </a:spcAft>
            </a:pPr>
            <a:r>
              <a:rPr sz="1120" b="0">
                <a:solidFill>
                  <a:srgbClr val="212936"/>
                </a:solidFill>
                <a:latin typeface="Noto Sans CJK SC"/>
                <a:ea typeface="Noto Sans CJK SC"/>
                <a:cs typeface="Microsoft YaHei"/>
              </a:rPr>
              <a:t>• JSON report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56432" y="1627632"/>
            <a:ext cx="2578608" cy="4389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56432" y="1627632"/>
            <a:ext cx="2578608" cy="109728"/>
          </a:xfrm>
          <a:prstGeom prst="rect">
            <a:avLst/>
          </a:prstGeom>
          <a:solidFill>
            <a:srgbClr val="EF9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39312" y="1901952"/>
            <a:ext cx="2212848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420" b="1">
                <a:solidFill>
                  <a:srgbClr val="121820"/>
                </a:solidFill>
                <a:latin typeface="Noto Sans CJK SC"/>
                <a:ea typeface="Noto Sans CJK SC"/>
                <a:cs typeface="Microsoft YaHei"/>
              </a:rPr>
              <a:t>qperf Harness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94176" y="2395728"/>
            <a:ext cx="2157984" cy="2980944"/>
          </a:xfrm>
          <a:prstGeom prst="rect">
            <a:avLst/>
          </a:prstGeom>
          <a:noFill/>
        </p:spPr>
        <p:txBody>
          <a:bodyPr wrap="square" lIns="73152" rIns="54864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359"/>
              </a:spcAft>
            </a:pPr>
            <a:r>
              <a:rPr sz="1120" b="0">
                <a:solidFill>
                  <a:srgbClr val="212936"/>
                </a:solidFill>
                <a:latin typeface="Noto Sans CJK SC"/>
                <a:ea typeface="Noto Sans CJK SC"/>
                <a:cs typeface="Microsoft YaHei"/>
              </a:rPr>
              <a:t>• plugin/analyzer</a:t>
            </a:r>
          </a:p>
          <a:p>
            <a:pPr>
              <a:lnSpc>
                <a:spcPct val="105000"/>
              </a:lnSpc>
              <a:spcAft>
                <a:spcPts val="359"/>
              </a:spcAft>
            </a:pPr>
            <a:r>
              <a:rPr sz="1120" b="0">
                <a:solidFill>
                  <a:srgbClr val="212936"/>
                </a:solidFill>
                <a:latin typeface="Noto Sans CJK SC"/>
                <a:ea typeface="Noto Sans CJK SC"/>
                <a:cs typeface="Microsoft YaHei"/>
              </a:rPr>
              <a:t>• xtask starry perf</a:t>
            </a:r>
          </a:p>
          <a:p>
            <a:pPr>
              <a:lnSpc>
                <a:spcPct val="105000"/>
              </a:lnSpc>
              <a:spcAft>
                <a:spcPts val="359"/>
              </a:spcAft>
            </a:pPr>
            <a:r>
              <a:rPr sz="1120" b="0">
                <a:solidFill>
                  <a:srgbClr val="212936"/>
                </a:solidFill>
                <a:latin typeface="Noto Sans CJK SC"/>
                <a:ea typeface="Noto Sans CJK SC"/>
                <a:cs typeface="Microsoft YaHei"/>
              </a:rPr>
              <a:t>• folded stack</a:t>
            </a:r>
          </a:p>
          <a:p>
            <a:pPr>
              <a:lnSpc>
                <a:spcPct val="105000"/>
              </a:lnSpc>
              <a:spcAft>
                <a:spcPts val="359"/>
              </a:spcAft>
            </a:pPr>
            <a:r>
              <a:rPr sz="1120" b="0">
                <a:solidFill>
                  <a:srgbClr val="212936"/>
                </a:solidFill>
                <a:latin typeface="Noto Sans CJK SC"/>
                <a:ea typeface="Noto Sans CJK SC"/>
                <a:cs typeface="Microsoft YaHei"/>
              </a:rPr>
              <a:t>• flamegraph SVG</a:t>
            </a:r>
          </a:p>
          <a:p>
            <a:pPr>
              <a:lnSpc>
                <a:spcPct val="105000"/>
              </a:lnSpc>
              <a:spcAft>
                <a:spcPts val="359"/>
              </a:spcAft>
            </a:pPr>
            <a:r>
              <a:rPr sz="1120" b="0">
                <a:solidFill>
                  <a:srgbClr val="212936"/>
                </a:solidFill>
                <a:latin typeface="Noto Sans CJK SC"/>
                <a:ea typeface="Noto Sans CJK SC"/>
                <a:cs typeface="Microsoft YaHei"/>
              </a:rPr>
              <a:t>• hotspots.csv</a:t>
            </a:r>
          </a:p>
          <a:p>
            <a:pPr>
              <a:lnSpc>
                <a:spcPct val="105000"/>
              </a:lnSpc>
              <a:spcAft>
                <a:spcPts val="359"/>
              </a:spcAft>
            </a:pPr>
            <a:r>
              <a:rPr sz="1120" b="0">
                <a:solidFill>
                  <a:srgbClr val="212936"/>
                </a:solidFill>
                <a:latin typeface="Noto Sans CJK SC"/>
                <a:ea typeface="Noto Sans CJK SC"/>
                <a:cs typeface="Microsoft YaHei"/>
              </a:rPr>
              <a:t>• perf diff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45936" y="1627632"/>
            <a:ext cx="2578608" cy="4389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45936" y="1627632"/>
            <a:ext cx="2578608" cy="109728"/>
          </a:xfrm>
          <a:prstGeom prst="rect">
            <a:avLst/>
          </a:prstGeom>
          <a:solidFill>
            <a:srgbClr val="22A3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28816" y="1901952"/>
            <a:ext cx="2212848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420" b="1">
                <a:solidFill>
                  <a:srgbClr val="121820"/>
                </a:solidFill>
                <a:latin typeface="Noto Sans CJK SC"/>
                <a:ea typeface="Noto Sans CJK SC"/>
                <a:cs typeface="Microsoft YaHei"/>
              </a:rPr>
              <a:t>Agent Interface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395728"/>
            <a:ext cx="2157984" cy="2980944"/>
          </a:xfrm>
          <a:prstGeom prst="rect">
            <a:avLst/>
          </a:prstGeom>
          <a:noFill/>
        </p:spPr>
        <p:txBody>
          <a:bodyPr wrap="square" lIns="73152" rIns="54864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359"/>
              </a:spcAft>
            </a:pPr>
            <a:r>
              <a:rPr sz="1120" b="0">
                <a:solidFill>
                  <a:srgbClr val="212936"/>
                </a:solidFill>
                <a:latin typeface="Noto Sans CJK SC"/>
                <a:ea typeface="Noto Sans CJK SC"/>
                <a:cs typeface="Microsoft YaHei"/>
              </a:rPr>
              <a:t>• MCP tools</a:t>
            </a:r>
          </a:p>
          <a:p>
            <a:pPr>
              <a:lnSpc>
                <a:spcPct val="105000"/>
              </a:lnSpc>
              <a:spcAft>
                <a:spcPts val="359"/>
              </a:spcAft>
            </a:pPr>
            <a:r>
              <a:rPr sz="1120" b="0">
                <a:solidFill>
                  <a:srgbClr val="212936"/>
                </a:solidFill>
                <a:latin typeface="Noto Sans CJK SC"/>
                <a:ea typeface="Noto Sans CJK SC"/>
                <a:cs typeface="Microsoft YaHei"/>
              </a:rPr>
              <a:t>• Codex skill</a:t>
            </a:r>
          </a:p>
          <a:p>
            <a:pPr>
              <a:lnSpc>
                <a:spcPct val="105000"/>
              </a:lnSpc>
              <a:spcAft>
                <a:spcPts val="359"/>
              </a:spcAft>
            </a:pPr>
            <a:r>
              <a:rPr sz="1120" b="0">
                <a:solidFill>
                  <a:srgbClr val="212936"/>
                </a:solidFill>
                <a:latin typeface="Noto Sans CJK SC"/>
                <a:ea typeface="Noto Sans CJK SC"/>
                <a:cs typeface="Microsoft YaHei"/>
              </a:rPr>
              <a:t>• Local UI</a:t>
            </a:r>
          </a:p>
          <a:p>
            <a:pPr>
              <a:lnSpc>
                <a:spcPct val="105000"/>
              </a:lnSpc>
              <a:spcAft>
                <a:spcPts val="359"/>
              </a:spcAft>
            </a:pPr>
            <a:r>
              <a:rPr sz="1120" b="0">
                <a:solidFill>
                  <a:srgbClr val="212936"/>
                </a:solidFill>
                <a:latin typeface="Noto Sans CJK SC"/>
                <a:ea typeface="Noto Sans CJK SC"/>
                <a:cs typeface="Microsoft YaHei"/>
              </a:rPr>
              <a:t>• job logs</a:t>
            </a:r>
          </a:p>
          <a:p>
            <a:pPr>
              <a:lnSpc>
                <a:spcPct val="105000"/>
              </a:lnSpc>
              <a:spcAft>
                <a:spcPts val="359"/>
              </a:spcAft>
            </a:pPr>
            <a:r>
              <a:rPr sz="1120" b="0">
                <a:solidFill>
                  <a:srgbClr val="212936"/>
                </a:solidFill>
                <a:latin typeface="Noto Sans CJK SC"/>
                <a:ea typeface="Noto Sans CJK SC"/>
                <a:cs typeface="Microsoft YaHei"/>
              </a:rPr>
              <a:t>• artifact API</a:t>
            </a:r>
          </a:p>
          <a:p>
            <a:pPr>
              <a:lnSpc>
                <a:spcPct val="105000"/>
              </a:lnSpc>
              <a:spcAft>
                <a:spcPts val="359"/>
              </a:spcAft>
            </a:pPr>
            <a:r>
              <a:rPr sz="1120" b="0">
                <a:solidFill>
                  <a:srgbClr val="212936"/>
                </a:solidFill>
                <a:latin typeface="Noto Sans CJK SC"/>
                <a:ea typeface="Noto Sans CJK SC"/>
                <a:cs typeface="Microsoft YaHei"/>
              </a:rPr>
              <a:t>• report API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35440" y="1627632"/>
            <a:ext cx="2578608" cy="4389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235440" y="1627632"/>
            <a:ext cx="2578608" cy="109728"/>
          </a:xfrm>
          <a:prstGeom prst="rect">
            <a:avLst/>
          </a:prstGeom>
          <a:solidFill>
            <a:srgbClr val="446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20" y="1901952"/>
            <a:ext cx="2212848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420" b="1">
                <a:solidFill>
                  <a:srgbClr val="121820"/>
                </a:solidFill>
                <a:latin typeface="Noto Sans CJK SC"/>
                <a:ea typeface="Noto Sans CJK SC"/>
                <a:cs typeface="Microsoft YaHei"/>
              </a:rPr>
              <a:t>协作与文档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73184" y="2395728"/>
            <a:ext cx="2157984" cy="2980944"/>
          </a:xfrm>
          <a:prstGeom prst="rect">
            <a:avLst/>
          </a:prstGeom>
          <a:noFill/>
        </p:spPr>
        <p:txBody>
          <a:bodyPr wrap="square" lIns="73152" rIns="54864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359"/>
              </a:spcAft>
            </a:pPr>
            <a:r>
              <a:rPr sz="1120" b="0">
                <a:solidFill>
                  <a:srgbClr val="212936"/>
                </a:solidFill>
                <a:latin typeface="Noto Sans CJK SC"/>
                <a:ea typeface="Noto Sans CJK SC"/>
                <a:cs typeface="Microsoft YaHei"/>
              </a:rPr>
              <a:t>• README</a:t>
            </a:r>
          </a:p>
          <a:p>
            <a:pPr>
              <a:lnSpc>
                <a:spcPct val="105000"/>
              </a:lnSpc>
              <a:spcAft>
                <a:spcPts val="359"/>
              </a:spcAft>
            </a:pPr>
            <a:r>
              <a:rPr sz="1120" b="0">
                <a:solidFill>
                  <a:srgbClr val="212936"/>
                </a:solidFill>
                <a:latin typeface="Noto Sans CJK SC"/>
                <a:ea typeface="Noto Sans CJK SC"/>
                <a:cs typeface="Microsoft YaHei"/>
              </a:rPr>
              <a:t>• framework doc</a:t>
            </a:r>
          </a:p>
          <a:p>
            <a:pPr>
              <a:lnSpc>
                <a:spcPct val="105000"/>
              </a:lnSpc>
              <a:spcAft>
                <a:spcPts val="359"/>
              </a:spcAft>
            </a:pPr>
            <a:r>
              <a:rPr sz="1120" b="0">
                <a:solidFill>
                  <a:srgbClr val="212936"/>
                </a:solidFill>
                <a:latin typeface="Noto Sans CJK SC"/>
                <a:ea typeface="Noto Sans CJK SC"/>
                <a:cs typeface="Microsoft YaHei"/>
              </a:rPr>
              <a:t>• 验证命令</a:t>
            </a:r>
          </a:p>
          <a:p>
            <a:pPr>
              <a:lnSpc>
                <a:spcPct val="105000"/>
              </a:lnSpc>
              <a:spcAft>
                <a:spcPts val="359"/>
              </a:spcAft>
            </a:pPr>
            <a:r>
              <a:rPr sz="1120" b="0">
                <a:solidFill>
                  <a:srgbClr val="212936"/>
                </a:solidFill>
                <a:latin typeface="Noto Sans CJK SC"/>
                <a:ea typeface="Noto Sans CJK SC"/>
                <a:cs typeface="Microsoft YaHei"/>
              </a:rPr>
              <a:t>• PR evidence</a:t>
            </a:r>
          </a:p>
          <a:p>
            <a:pPr>
              <a:lnSpc>
                <a:spcPct val="105000"/>
              </a:lnSpc>
              <a:spcAft>
                <a:spcPts val="359"/>
              </a:spcAft>
            </a:pPr>
            <a:r>
              <a:rPr sz="1120" b="0">
                <a:solidFill>
                  <a:srgbClr val="212936"/>
                </a:solidFill>
                <a:latin typeface="Noto Sans CJK SC"/>
                <a:ea typeface="Noto Sans CJK SC"/>
                <a:cs typeface="Microsoft YaHei"/>
              </a:rPr>
              <a:t>• risk control</a:t>
            </a:r>
          </a:p>
          <a:p>
            <a:pPr>
              <a:lnSpc>
                <a:spcPct val="105000"/>
              </a:lnSpc>
              <a:spcAft>
                <a:spcPts val="359"/>
              </a:spcAft>
            </a:pPr>
            <a:r>
              <a:rPr sz="1120" b="0">
                <a:solidFill>
                  <a:srgbClr val="212936"/>
                </a:solidFill>
                <a:latin typeface="Noto Sans CJK SC"/>
                <a:ea typeface="Noto Sans CJK SC"/>
                <a:cs typeface="Microsoft YaHei"/>
              </a:rPr>
              <a:t>• future roadmap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6510528"/>
            <a:ext cx="256032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50" b="0">
                <a:solidFill>
                  <a:srgbClr val="606F80"/>
                </a:solidFill>
                <a:latin typeface="Noto Sans CJK SC"/>
                <a:ea typeface="Noto Sans CJK SC"/>
                <a:cs typeface="Microsoft YaHei"/>
              </a:rPr>
              <a:t>AI-Harness 答辩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0232" y="6510528"/>
            <a:ext cx="694944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850" b="0">
                <a:solidFill>
                  <a:srgbClr val="606F80"/>
                </a:solidFill>
                <a:latin typeface="Noto Sans CJK SC"/>
                <a:ea typeface="Noto Sans CJK SC"/>
                <a:cs typeface="Microsoft YaHei"/>
              </a:rPr>
              <a:t>19/23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64592"/>
          </a:xfrm>
          <a:prstGeom prst="rect">
            <a:avLst/>
          </a:prstGeom>
          <a:solidFill>
            <a:srgbClr val="12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0" y="237744"/>
            <a:ext cx="228600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850" b="0">
                <a:solidFill>
                  <a:srgbClr val="606F80"/>
                </a:solidFill>
                <a:latin typeface="Noto Sans CJK SC"/>
                <a:ea typeface="Noto Sans CJK SC"/>
                <a:cs typeface="Microsoft YaHei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29184"/>
            <a:ext cx="210312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50" b="1">
                <a:solidFill>
                  <a:srgbClr val="00A6B5"/>
                </a:solidFill>
                <a:latin typeface="Noto Sans CJK SC"/>
                <a:ea typeface="Noto Sans CJK SC"/>
                <a:cs typeface="Microsoft YaHei"/>
              </a:rPr>
              <a:t>BOUNDARY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30352"/>
            <a:ext cx="8046720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>
                <a:solidFill>
                  <a:srgbClr val="121820"/>
                </a:solidFill>
                <a:latin typeface="Noto Sans CJK SC"/>
                <a:ea typeface="Noto Sans CJK SC"/>
                <a:cs typeface="Microsoft YaHei"/>
              </a:rPr>
              <a:t>当前边界与风险控制：明确能力范围，避免误用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051560"/>
            <a:ext cx="8046720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0">
                <a:solidFill>
                  <a:srgbClr val="606F80"/>
                </a:solidFill>
                <a:latin typeface="Noto Sans CJK SC"/>
                <a:ea typeface="Noto Sans CJK SC"/>
                <a:cs typeface="Microsoft YaHei"/>
              </a:rPr>
              <a:t>框架已具备闭环，但仍保留人工审查和持续扩展空间。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35024"/>
            <a:ext cx="1051560" cy="41148"/>
          </a:xfrm>
          <a:prstGeom prst="rect">
            <a:avLst/>
          </a:prstGeom>
          <a:solidFill>
            <a:srgbClr val="EF9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94944" y="1664208"/>
            <a:ext cx="5084064" cy="415137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94944" y="1664208"/>
            <a:ext cx="73152" cy="4151376"/>
          </a:xfrm>
          <a:prstGeom prst="rect">
            <a:avLst/>
          </a:prstGeom>
          <a:solidFill>
            <a:srgbClr val="D34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828800"/>
            <a:ext cx="4700016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121820"/>
                </a:solidFill>
                <a:latin typeface="Noto Sans CJK SC"/>
                <a:ea typeface="Noto Sans CJK SC"/>
                <a:cs typeface="Microsoft YaHei"/>
              </a:rPr>
              <a:t>当前能力边界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2240280"/>
            <a:ext cx="4700016" cy="3456432"/>
          </a:xfrm>
          <a:prstGeom prst="rect">
            <a:avLst/>
          </a:prstGeom>
          <a:noFill/>
        </p:spPr>
        <p:txBody>
          <a:bodyPr wrap="square" lIns="73152" rIns="54864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425"/>
              </a:spcAft>
            </a:pPr>
            <a:r>
              <a:rPr sz="1330" b="0">
                <a:solidFill>
                  <a:srgbClr val="212936"/>
                </a:solidFill>
                <a:latin typeface="Noto Sans CJK SC"/>
                <a:ea typeface="Noto Sans CJK SC"/>
                <a:cs typeface="Microsoft YaHei"/>
              </a:rPr>
              <a:t>syscall probe 覆盖仍需继续扩充</a:t>
            </a:r>
          </a:p>
          <a:p>
            <a:pPr>
              <a:lnSpc>
                <a:spcPct val="105000"/>
              </a:lnSpc>
              <a:spcAft>
                <a:spcPts val="425"/>
              </a:spcAft>
            </a:pPr>
            <a:r>
              <a:rPr sz="1330" b="0">
                <a:solidFill>
                  <a:srgbClr val="212936"/>
                </a:solidFill>
                <a:latin typeface="Noto Sans CJK SC"/>
                <a:ea typeface="Noto Sans CJK SC"/>
                <a:cs typeface="Microsoft YaHei"/>
              </a:rPr>
              <a:t>qperf 主要验证 riscv64，loongarch64 需要更多实测</a:t>
            </a:r>
          </a:p>
          <a:p>
            <a:pPr>
              <a:lnSpc>
                <a:spcPct val="105000"/>
              </a:lnSpc>
              <a:spcAft>
                <a:spcPts val="425"/>
              </a:spcAft>
            </a:pPr>
            <a:r>
              <a:rPr sz="1330" b="0">
                <a:solidFill>
                  <a:srgbClr val="212936"/>
                </a:solidFill>
                <a:latin typeface="Noto Sans CJK SC"/>
                <a:ea typeface="Noto Sans CJK SC"/>
                <a:cs typeface="Microsoft YaHei"/>
              </a:rPr>
              <a:t>pprof 格式预留，尚未完整支持</a:t>
            </a:r>
          </a:p>
          <a:p>
            <a:pPr>
              <a:lnSpc>
                <a:spcPct val="105000"/>
              </a:lnSpc>
              <a:spcAft>
                <a:spcPts val="425"/>
              </a:spcAft>
            </a:pPr>
            <a:r>
              <a:rPr sz="1330" b="0">
                <a:solidFill>
                  <a:srgbClr val="212936"/>
                </a:solidFill>
                <a:latin typeface="Noto Sans CJK SC"/>
                <a:ea typeface="Noto Sans CJK SC"/>
                <a:cs typeface="Microsoft YaHei"/>
              </a:rPr>
              <a:t>fix candidates 仍是规则驱动</a:t>
            </a:r>
          </a:p>
          <a:p>
            <a:pPr>
              <a:lnSpc>
                <a:spcPct val="105000"/>
              </a:lnSpc>
              <a:spcAft>
                <a:spcPts val="425"/>
              </a:spcAft>
            </a:pPr>
            <a:r>
              <a:rPr sz="1330" b="0">
                <a:solidFill>
                  <a:srgbClr val="212936"/>
                </a:solidFill>
                <a:latin typeface="Noto Sans CJK SC"/>
                <a:ea typeface="Noto Sans CJK SC"/>
                <a:cs typeface="Microsoft YaHei"/>
              </a:rPr>
              <a:t>Linux 性能 baseline 还需定义可比 workload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19088" y="1664208"/>
            <a:ext cx="5084064" cy="415137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19088" y="1664208"/>
            <a:ext cx="73152" cy="4151376"/>
          </a:xfrm>
          <a:prstGeom prst="rect">
            <a:avLst/>
          </a:prstGeom>
          <a:solidFill>
            <a:srgbClr val="22A3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56832" y="1828800"/>
            <a:ext cx="4700016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121820"/>
                </a:solidFill>
                <a:latin typeface="Noto Sans CJK SC"/>
                <a:ea typeface="Noto Sans CJK SC"/>
                <a:cs typeface="Microsoft YaHei"/>
              </a:rPr>
              <a:t>风险控制策略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2240280"/>
            <a:ext cx="4700016" cy="3456432"/>
          </a:xfrm>
          <a:prstGeom prst="rect">
            <a:avLst/>
          </a:prstGeom>
          <a:noFill/>
        </p:spPr>
        <p:txBody>
          <a:bodyPr wrap="square" lIns="73152" rIns="54864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425"/>
              </a:spcAft>
            </a:pPr>
            <a:r>
              <a:rPr sz="1330" b="0">
                <a:solidFill>
                  <a:srgbClr val="212936"/>
                </a:solidFill>
                <a:latin typeface="Noto Sans CJK SC"/>
                <a:ea typeface="Noto Sans CJK SC"/>
                <a:cs typeface="Microsoft YaHei"/>
              </a:rPr>
              <a:t>语义差异必须回到 Linux 参考和源码实现</a:t>
            </a:r>
          </a:p>
          <a:p>
            <a:pPr>
              <a:lnSpc>
                <a:spcPct val="105000"/>
              </a:lnSpc>
              <a:spcAft>
                <a:spcPts val="425"/>
              </a:spcAft>
            </a:pPr>
            <a:r>
              <a:rPr sz="1330" b="0">
                <a:solidFill>
                  <a:srgbClr val="212936"/>
                </a:solidFill>
                <a:latin typeface="Noto Sans CJK SC"/>
                <a:ea typeface="Noto Sans CJK SC"/>
                <a:cs typeface="Microsoft YaHei"/>
              </a:rPr>
              <a:t>性能优化必须有 profile 证据和 rerun 验证</a:t>
            </a:r>
          </a:p>
          <a:p>
            <a:pPr>
              <a:lnSpc>
                <a:spcPct val="105000"/>
              </a:lnSpc>
              <a:spcAft>
                <a:spcPts val="425"/>
              </a:spcAft>
            </a:pPr>
            <a:r>
              <a:rPr sz="1330" b="0">
                <a:solidFill>
                  <a:srgbClr val="212936"/>
                </a:solidFill>
                <a:latin typeface="Noto Sans CJK SC"/>
                <a:ea typeface="Noto Sans CJK SC"/>
                <a:cs typeface="Microsoft YaHei"/>
              </a:rPr>
              <a:t>Docker 统一环境，减少宿主漂移</a:t>
            </a:r>
          </a:p>
          <a:p>
            <a:pPr>
              <a:lnSpc>
                <a:spcPct val="105000"/>
              </a:lnSpc>
              <a:spcAft>
                <a:spcPts val="425"/>
              </a:spcAft>
            </a:pPr>
            <a:r>
              <a:rPr sz="1330" b="0">
                <a:solidFill>
                  <a:srgbClr val="212936"/>
                </a:solidFill>
                <a:latin typeface="Noto Sans CJK SC"/>
                <a:ea typeface="Noto Sans CJK SC"/>
                <a:cs typeface="Microsoft YaHei"/>
              </a:rPr>
              <a:t>UI artifact 读取限制在仓库报告目录</a:t>
            </a:r>
          </a:p>
          <a:p>
            <a:pPr>
              <a:lnSpc>
                <a:spcPct val="105000"/>
              </a:lnSpc>
              <a:spcAft>
                <a:spcPts val="425"/>
              </a:spcAft>
            </a:pPr>
            <a:r>
              <a:rPr sz="1330" b="0">
                <a:solidFill>
                  <a:srgbClr val="212936"/>
                </a:solidFill>
                <a:latin typeface="Noto Sans CJK SC"/>
                <a:ea typeface="Noto Sans CJK SC"/>
                <a:cs typeface="Microsoft YaHei"/>
              </a:rPr>
              <a:t>PR 描述同步列明背景、修改、验证和结果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510528"/>
            <a:ext cx="256032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50" b="0">
                <a:solidFill>
                  <a:srgbClr val="606F80"/>
                </a:solidFill>
                <a:latin typeface="Noto Sans CJK SC"/>
                <a:ea typeface="Noto Sans CJK SC"/>
                <a:cs typeface="Microsoft YaHei"/>
              </a:rPr>
              <a:t>AI-Harness 答辩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0232" y="6510528"/>
            <a:ext cx="694944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850" b="0">
                <a:solidFill>
                  <a:srgbClr val="606F80"/>
                </a:solidFill>
                <a:latin typeface="Noto Sans CJK SC"/>
                <a:ea typeface="Noto Sans CJK SC"/>
                <a:cs typeface="Microsoft YaHei"/>
              </a:rPr>
              <a:t>20/23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64592"/>
          </a:xfrm>
          <a:prstGeom prst="rect">
            <a:avLst/>
          </a:prstGeom>
          <a:solidFill>
            <a:srgbClr val="12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0" y="237744"/>
            <a:ext cx="228600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850" b="0">
                <a:solidFill>
                  <a:srgbClr val="606F80"/>
                </a:solidFill>
                <a:latin typeface="Noto Sans CJK SC"/>
                <a:ea typeface="Noto Sans CJK SC"/>
                <a:cs typeface="Microsoft YaHei"/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29184"/>
            <a:ext cx="210312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50" b="1">
                <a:solidFill>
                  <a:srgbClr val="00A6B5"/>
                </a:solidFill>
                <a:latin typeface="Noto Sans CJK SC"/>
                <a:ea typeface="Noto Sans CJK SC"/>
                <a:cs typeface="Microsoft YaHei"/>
              </a:rP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30352"/>
            <a:ext cx="8046720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>
                <a:solidFill>
                  <a:srgbClr val="121820"/>
                </a:solidFill>
                <a:latin typeface="Noto Sans CJK SC"/>
                <a:ea typeface="Noto Sans CJK SC"/>
                <a:cs typeface="Microsoft YaHei"/>
              </a:rPr>
              <a:t>后续路线：让 harness 逐步变成自治开发基础设施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051560"/>
            <a:ext cx="8046720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0">
                <a:solidFill>
                  <a:srgbClr val="606F80"/>
                </a:solidFill>
                <a:latin typeface="Noto Sans CJK SC"/>
                <a:ea typeface="Noto Sans CJK SC"/>
                <a:cs typeface="Microsoft YaHei"/>
              </a:rPr>
              <a:t>扩覆盖、强基线、做映射、进 PR，形成持续改进机制。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35024"/>
            <a:ext cx="1051560" cy="41148"/>
          </a:xfrm>
          <a:prstGeom prst="rect">
            <a:avLst/>
          </a:prstGeom>
          <a:solidFill>
            <a:srgbClr val="EF9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86384" y="1627632"/>
            <a:ext cx="713232" cy="713232"/>
          </a:xfrm>
          <a:prstGeom prst="ellipse">
            <a:avLst/>
          </a:prstGeom>
          <a:solidFill>
            <a:srgbClr val="00A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1792224"/>
            <a:ext cx="713232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Noto Sans CJK SC"/>
                <a:ea typeface="Noto Sans CJK SC"/>
                <a:cs typeface="Microsoft YaHei"/>
              </a:rPr>
              <a:t>1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536192" y="1984248"/>
            <a:ext cx="1170432" cy="0"/>
          </a:xfrm>
          <a:prstGeom prst="line">
            <a:avLst/>
          </a:prstGeom>
          <a:ln w="12700">
            <a:solidFill>
              <a:srgbClr val="606F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93776" y="2596896"/>
            <a:ext cx="1298448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20" b="1">
                <a:solidFill>
                  <a:srgbClr val="121820"/>
                </a:solidFill>
                <a:latin typeface="Noto Sans CJK SC"/>
                <a:ea typeface="Noto Sans CJK SC"/>
                <a:cs typeface="Microsoft YaHei"/>
              </a:rPr>
              <a:t>1. 扩 syscall 覆盖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" y="3145536"/>
            <a:ext cx="1792224" cy="10241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70" b="0">
                <a:solidFill>
                  <a:srgbClr val="606F80"/>
                </a:solidFill>
                <a:latin typeface="Noto Sans CJK SC"/>
                <a:ea typeface="Noto Sans CJK SC"/>
                <a:cs typeface="Microsoft YaHei"/>
              </a:rPr>
              <a:t>fd lifecycle、signal、poll/epoll、mmap、权限与 errno 顺序</a:t>
            </a:r>
          </a:p>
        </p:txBody>
      </p:sp>
      <p:sp>
        <p:nvSpPr>
          <p:cNvPr id="13" name="Oval 12"/>
          <p:cNvSpPr/>
          <p:nvPr/>
        </p:nvSpPr>
        <p:spPr>
          <a:xfrm>
            <a:off x="3026664" y="1627632"/>
            <a:ext cx="713232" cy="713232"/>
          </a:xfrm>
          <a:prstGeom prst="ellipse">
            <a:avLst/>
          </a:prstGeom>
          <a:solidFill>
            <a:srgbClr val="22A3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26664" y="1792224"/>
            <a:ext cx="713232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Noto Sans CJK SC"/>
                <a:ea typeface="Noto Sans CJK SC"/>
                <a:cs typeface="Microsoft YaHei"/>
              </a:rPr>
              <a:t>2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776472" y="1984248"/>
            <a:ext cx="1170432" cy="0"/>
          </a:xfrm>
          <a:prstGeom prst="line">
            <a:avLst/>
          </a:prstGeom>
          <a:ln w="12700">
            <a:solidFill>
              <a:srgbClr val="606F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734056" y="2596896"/>
            <a:ext cx="1298448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20" b="1">
                <a:solidFill>
                  <a:srgbClr val="121820"/>
                </a:solidFill>
                <a:latin typeface="Noto Sans CJK SC"/>
                <a:ea typeface="Noto Sans CJK SC"/>
                <a:cs typeface="Microsoft YaHei"/>
              </a:rPr>
              <a:t>2. 差异到代码映射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96312" y="3145536"/>
            <a:ext cx="1792224" cy="10241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70" b="0">
                <a:solidFill>
                  <a:srgbClr val="606F80"/>
                </a:solidFill>
                <a:latin typeface="Noto Sans CJK SC"/>
                <a:ea typeface="Noto Sans CJK SC"/>
                <a:cs typeface="Microsoft YaHei"/>
              </a:rPr>
              <a:t>case -&gt; syscall 实现文件 -&gt; 常见 errno/flag 修复模板</a:t>
            </a:r>
          </a:p>
        </p:txBody>
      </p:sp>
      <p:sp>
        <p:nvSpPr>
          <p:cNvPr id="18" name="Oval 17"/>
          <p:cNvSpPr/>
          <p:nvPr/>
        </p:nvSpPr>
        <p:spPr>
          <a:xfrm>
            <a:off x="5266944" y="1627632"/>
            <a:ext cx="713232" cy="713232"/>
          </a:xfrm>
          <a:prstGeom prst="ellipse">
            <a:avLst/>
          </a:prstGeom>
          <a:solidFill>
            <a:srgbClr val="EF9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66944" y="1792224"/>
            <a:ext cx="713232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Noto Sans CJK SC"/>
                <a:ea typeface="Noto Sans CJK SC"/>
                <a:cs typeface="Microsoft YaHei"/>
              </a:rPr>
              <a:t>3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016752" y="1984248"/>
            <a:ext cx="1170432" cy="0"/>
          </a:xfrm>
          <a:prstGeom prst="line">
            <a:avLst/>
          </a:prstGeom>
          <a:ln w="12700">
            <a:solidFill>
              <a:srgbClr val="606F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974336" y="2596896"/>
            <a:ext cx="1298448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20" b="1">
                <a:solidFill>
                  <a:srgbClr val="121820"/>
                </a:solidFill>
                <a:latin typeface="Noto Sans CJK SC"/>
                <a:ea typeface="Noto Sans CJK SC"/>
                <a:cs typeface="Microsoft YaHei"/>
              </a:rPr>
              <a:t>3. 性能基线体系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36592" y="3145536"/>
            <a:ext cx="1792224" cy="10241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70" b="0">
                <a:solidFill>
                  <a:srgbClr val="606F80"/>
                </a:solidFill>
                <a:latin typeface="Noto Sans CJK SC"/>
                <a:ea typeface="Noto Sans CJK SC"/>
                <a:cs typeface="Microsoft YaHei"/>
              </a:rPr>
              <a:t>标准 workload、baseline 保存、阈值判断与趋势报告</a:t>
            </a:r>
          </a:p>
        </p:txBody>
      </p:sp>
      <p:sp>
        <p:nvSpPr>
          <p:cNvPr id="23" name="Oval 22"/>
          <p:cNvSpPr/>
          <p:nvPr/>
        </p:nvSpPr>
        <p:spPr>
          <a:xfrm>
            <a:off x="7507224" y="1627632"/>
            <a:ext cx="713232" cy="713232"/>
          </a:xfrm>
          <a:prstGeom prst="ellipse">
            <a:avLst/>
          </a:prstGeom>
          <a:solidFill>
            <a:srgbClr val="446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07224" y="1792224"/>
            <a:ext cx="713232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Noto Sans CJK SC"/>
                <a:ea typeface="Noto Sans CJK SC"/>
                <a:cs typeface="Microsoft YaHei"/>
              </a:rPr>
              <a:t>4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257032" y="1984248"/>
            <a:ext cx="1170432" cy="0"/>
          </a:xfrm>
          <a:prstGeom prst="line">
            <a:avLst/>
          </a:prstGeom>
          <a:ln w="12700">
            <a:solidFill>
              <a:srgbClr val="606F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214616" y="2596896"/>
            <a:ext cx="1298448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20" b="1">
                <a:solidFill>
                  <a:srgbClr val="121820"/>
                </a:solidFill>
                <a:latin typeface="Noto Sans CJK SC"/>
                <a:ea typeface="Noto Sans CJK SC"/>
                <a:cs typeface="Microsoft YaHei"/>
              </a:rPr>
              <a:t>4. 可视化增强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76872" y="3145536"/>
            <a:ext cx="1792224" cy="10241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70" b="0">
                <a:solidFill>
                  <a:srgbClr val="606F80"/>
                </a:solidFill>
                <a:latin typeface="Noto Sans CJK SC"/>
                <a:ea typeface="Noto Sans CJK SC"/>
                <a:cs typeface="Microsoft YaHei"/>
              </a:rPr>
              <a:t>diff flamegraph、热点文件跳转、compare 并排查看</a:t>
            </a:r>
          </a:p>
        </p:txBody>
      </p:sp>
      <p:sp>
        <p:nvSpPr>
          <p:cNvPr id="28" name="Oval 27"/>
          <p:cNvSpPr/>
          <p:nvPr/>
        </p:nvSpPr>
        <p:spPr>
          <a:xfrm>
            <a:off x="9747504" y="1627632"/>
            <a:ext cx="713232" cy="713232"/>
          </a:xfrm>
          <a:prstGeom prst="ellipse">
            <a:avLst/>
          </a:prstGeom>
          <a:solidFill>
            <a:srgbClr val="7F53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47504" y="1792224"/>
            <a:ext cx="713232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Noto Sans CJK SC"/>
                <a:ea typeface="Noto Sans CJK SC"/>
                <a:cs typeface="Microsoft YaHe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54896" y="2596896"/>
            <a:ext cx="1298448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20" b="1">
                <a:solidFill>
                  <a:srgbClr val="121820"/>
                </a:solidFill>
                <a:latin typeface="Noto Sans CJK SC"/>
                <a:ea typeface="Noto Sans CJK SC"/>
                <a:cs typeface="Microsoft YaHei"/>
              </a:rPr>
              <a:t>5. PR 自动化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17152" y="3145536"/>
            <a:ext cx="1792224" cy="10241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70" b="0">
                <a:solidFill>
                  <a:srgbClr val="606F80"/>
                </a:solidFill>
                <a:latin typeface="Noto Sans CJK SC"/>
                <a:ea typeface="Noto Sans CJK SC"/>
                <a:cs typeface="Microsoft YaHei"/>
              </a:rPr>
              <a:t>自动汇总 discover/profile/diff 结果，生成 PR body 证据段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70432" y="5230368"/>
            <a:ext cx="9829800" cy="58521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121820"/>
                </a:solidFill>
                <a:latin typeface="Noto Sans CJK SC"/>
                <a:ea typeface="Noto Sans CJK SC"/>
                <a:cs typeface="Microsoft YaHei"/>
              </a:rPr>
              <a:t>目标状态：agent 接收到差异或热点后，能自动收集证据、定位代码、提出补丁、跑回归、生成 PR 说明；人类负责语义判断和风险审查。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6510528"/>
            <a:ext cx="256032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50" b="0">
                <a:solidFill>
                  <a:srgbClr val="606F80"/>
                </a:solidFill>
                <a:latin typeface="Noto Sans CJK SC"/>
                <a:ea typeface="Noto Sans CJK SC"/>
                <a:cs typeface="Microsoft YaHei"/>
              </a:rPr>
              <a:t>AI-Harness 答辩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00232" y="6510528"/>
            <a:ext cx="694944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850" b="0">
                <a:solidFill>
                  <a:srgbClr val="606F80"/>
                </a:solidFill>
                <a:latin typeface="Noto Sans CJK SC"/>
                <a:ea typeface="Noto Sans CJK SC"/>
                <a:cs typeface="Microsoft YaHei"/>
              </a:rPr>
              <a:t>21/23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64592"/>
          </a:xfrm>
          <a:prstGeom prst="rect">
            <a:avLst/>
          </a:prstGeom>
          <a:solidFill>
            <a:srgbClr val="12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786384"/>
            <a:ext cx="8412480" cy="49377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Noto Sans CJK SC"/>
                <a:ea typeface="Noto Sans CJK SC"/>
                <a:cs typeface="Microsoft YaHei"/>
              </a:rPr>
              <a:t>结论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1353312"/>
            <a:ext cx="8778240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800" b="0">
                <a:solidFill>
                  <a:srgbClr val="DCE6F0"/>
                </a:solidFill>
                <a:latin typeface="Noto Sans CJK SC"/>
                <a:ea typeface="Noto Sans CJK SC"/>
                <a:cs typeface="Microsoft YaHei"/>
              </a:rPr>
              <a:t>AI-Harness 把 StarryOS 兼容性与性能优化中的“经验流程”固化成可复现、可审计、可扩展的工程接口。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743200"/>
            <a:ext cx="2907792" cy="1572768"/>
          </a:xfrm>
          <a:prstGeom prst="roundRect">
            <a:avLst/>
          </a:prstGeom>
          <a:solidFill>
            <a:srgbClr val="212B38"/>
          </a:solidFill>
          <a:ln w="10160">
            <a:solidFill>
              <a:srgbClr val="4D5C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054096"/>
            <a:ext cx="2907792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Noto Sans CJK SC"/>
                <a:ea typeface="Noto Sans CJK SC"/>
                <a:cs typeface="Microsoft YaHei"/>
              </a:rPr>
              <a:t>可复现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" y="3694176"/>
            <a:ext cx="246888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50" b="0">
                <a:solidFill>
                  <a:srgbClr val="BECCDA"/>
                </a:solidFill>
                <a:latin typeface="Noto Sans CJK SC"/>
                <a:ea typeface="Noto Sans CJK SC"/>
                <a:cs typeface="Microsoft YaHei"/>
              </a:rPr>
              <a:t>Docker re-exec + 结构化 artifact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17720" y="2743200"/>
            <a:ext cx="2907792" cy="1572768"/>
          </a:xfrm>
          <a:prstGeom prst="roundRect">
            <a:avLst/>
          </a:prstGeom>
          <a:solidFill>
            <a:srgbClr val="212B38"/>
          </a:solidFill>
          <a:ln w="10160">
            <a:solidFill>
              <a:srgbClr val="4D5C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3054096"/>
            <a:ext cx="2907792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Noto Sans CJK SC"/>
                <a:ea typeface="Noto Sans CJK SC"/>
                <a:cs typeface="Microsoft YaHei"/>
              </a:rPr>
              <a:t>可审计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37176" y="3694176"/>
            <a:ext cx="246888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50" b="0">
                <a:solidFill>
                  <a:srgbClr val="BECCDA"/>
                </a:solidFill>
                <a:latin typeface="Noto Sans CJK SC"/>
                <a:ea typeface="Noto Sans CJK SC"/>
                <a:cs typeface="Microsoft YaHei"/>
              </a:rPr>
              <a:t>Linux 基线 + JSON/CSV/SVG 证据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743200"/>
            <a:ext cx="2907792" cy="1572768"/>
          </a:xfrm>
          <a:prstGeom prst="roundRect">
            <a:avLst/>
          </a:prstGeom>
          <a:solidFill>
            <a:srgbClr val="212B38"/>
          </a:solidFill>
          <a:ln w="10160">
            <a:solidFill>
              <a:srgbClr val="4D5C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3054096"/>
            <a:ext cx="2907792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Noto Sans CJK SC"/>
                <a:ea typeface="Noto Sans CJK SC"/>
                <a:cs typeface="Microsoft YaHei"/>
              </a:rPr>
              <a:t>可扩展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0496" y="3694176"/>
            <a:ext cx="246888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50" b="0">
                <a:solidFill>
                  <a:srgbClr val="BECCDA"/>
                </a:solidFill>
                <a:latin typeface="Noto Sans CJK SC"/>
                <a:ea typeface="Noto Sans CJK SC"/>
                <a:cs typeface="Microsoft YaHei"/>
              </a:rPr>
              <a:t>CLI/MCP/UI/Skill 同源入口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5852160"/>
            <a:ext cx="3474720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EF9F3E"/>
                </a:solidFill>
                <a:latin typeface="Noto Sans CJK SC"/>
                <a:ea typeface="Noto Sans CJK SC"/>
                <a:cs typeface="Microsoft YaHei"/>
              </a:rPr>
              <a:t>谢谢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510528"/>
            <a:ext cx="256032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50" b="0">
                <a:solidFill>
                  <a:srgbClr val="606F80"/>
                </a:solidFill>
                <a:latin typeface="Noto Sans CJK SC"/>
                <a:ea typeface="Noto Sans CJK SC"/>
                <a:cs typeface="Microsoft YaHei"/>
              </a:rPr>
              <a:t>AI-Harness 答辩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00232" y="6510528"/>
            <a:ext cx="694944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850" b="0">
                <a:solidFill>
                  <a:srgbClr val="606F80"/>
                </a:solidFill>
                <a:latin typeface="Noto Sans CJK SC"/>
                <a:ea typeface="Noto Sans CJK SC"/>
                <a:cs typeface="Microsoft YaHei"/>
              </a:rPr>
              <a:t>22/23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64592"/>
          </a:xfrm>
          <a:prstGeom prst="rect">
            <a:avLst/>
          </a:prstGeom>
          <a:solidFill>
            <a:srgbClr val="12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0" y="237744"/>
            <a:ext cx="228600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850" b="0">
                <a:solidFill>
                  <a:srgbClr val="606F80"/>
                </a:solidFill>
                <a:latin typeface="Noto Sans CJK SC"/>
                <a:ea typeface="Noto Sans CJK SC"/>
                <a:cs typeface="Microsoft YaHei"/>
              </a:rPr>
              <a:t>Appendix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29184"/>
            <a:ext cx="210312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50" b="1">
                <a:solidFill>
                  <a:srgbClr val="00A6B5"/>
                </a:solidFill>
                <a:latin typeface="Noto Sans CJK SC"/>
                <a:ea typeface="Noto Sans CJK SC"/>
                <a:cs typeface="Microsoft YaHei"/>
              </a:rPr>
              <a:t>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30352"/>
            <a:ext cx="8046720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>
                <a:solidFill>
                  <a:srgbClr val="121820"/>
                </a:solidFill>
                <a:latin typeface="Noto Sans CJK SC"/>
                <a:ea typeface="Noto Sans CJK SC"/>
                <a:cs typeface="Microsoft YaHei"/>
              </a:rPr>
              <a:t>附录：本次 PPT 使用的命令与产物路径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35024"/>
            <a:ext cx="1051560" cy="41148"/>
          </a:xfrm>
          <a:prstGeom prst="rect">
            <a:avLst/>
          </a:prstGeom>
          <a:solidFill>
            <a:srgbClr val="EF9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1572768"/>
            <a:ext cx="10808208" cy="4443984"/>
          </a:xfrm>
          <a:prstGeom prst="roundRect">
            <a:avLst/>
          </a:prstGeom>
          <a:solidFill>
            <a:srgbClr val="1B232D"/>
          </a:solidFill>
          <a:ln w="8890">
            <a:solidFill>
              <a:srgbClr val="404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810512"/>
            <a:ext cx="10296144" cy="3858768"/>
          </a:xfrm>
          <a:prstGeom prst="rect">
            <a:avLst/>
          </a:prstGeom>
          <a:noFill/>
        </p:spPr>
        <p:txBody>
          <a:bodyPr wrap="square" lIns="73152" rIns="54864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240"/>
              </a:spcAft>
            </a:pPr>
            <a:r>
              <a:rPr sz="1050" b="0">
                <a:solidFill>
                  <a:srgbClr val="DCE6F0"/>
                </a:solidFill>
                <a:latin typeface="Noto Sans CJK SC"/>
                <a:ea typeface="Noto Sans CJK SC"/>
                <a:cs typeface="Microsoft YaHei"/>
              </a:rPr>
              <a:t>任务一来源：cg24-THU/tg-arceos-tutorial test 分支</a:t>
            </a:r>
          </a:p>
          <a:p>
            <a:pPr>
              <a:lnSpc>
                <a:spcPct val="105000"/>
              </a:lnSpc>
              <a:spcAft>
                <a:spcPts val="240"/>
              </a:spcAft>
            </a:pPr>
            <a:r>
              <a:rPr sz="1050" b="0">
                <a:solidFill>
                  <a:srgbClr val="DCE6F0"/>
                </a:solidFill>
                <a:latin typeface="Noto Sans CJK SC"/>
                <a:ea typeface="Noto Sans CJK SC"/>
                <a:cs typeface="Microsoft YaHei"/>
              </a:rPr>
              <a:t>exercise-printcolor / exercise-hashmap / exercise-altalloc / exercise-ramfs-rename / exercise-sysmap</a:t>
            </a:r>
          </a:p>
          <a:p>
            <a:pPr>
              <a:lnSpc>
                <a:spcPct val="105000"/>
              </a:lnSpc>
              <a:spcAft>
                <a:spcPts val="240"/>
              </a:spcAft>
            </a:pPr>
            <a:r>
              <a:rPr sz="1050" b="0">
                <a:solidFill>
                  <a:srgbClr val="DCE6F0"/>
                </a:solidFill>
                <a:latin typeface="Noto Sans CJK SC"/>
                <a:ea typeface="Noto Sans CJK SC"/>
                <a:cs typeface="Microsoft YaHei"/>
              </a:rPr>
              <a:t>代表性运行：docker run ... -w /work/exercise-printcolor ... cargo xtask run --arch riscv64</a:t>
            </a:r>
          </a:p>
          <a:p>
            <a:pPr>
              <a:lnSpc>
                <a:spcPct val="105000"/>
              </a:lnSpc>
              <a:spcAft>
                <a:spcPts val="240"/>
              </a:spcAft>
            </a:pPr>
            <a:r>
              <a:rPr sz="1050" b="0">
                <a:solidFill>
                  <a:srgbClr val="DCE6F0"/>
                </a:solidFill>
                <a:latin typeface="Noto Sans CJK SC"/>
                <a:ea typeface="Noto Sans CJK SC"/>
                <a:cs typeface="Microsoft YaHei"/>
              </a:rPr>
              <a:t>python3 tools/starry-syscall-harness/harness.py doctor</a:t>
            </a:r>
          </a:p>
          <a:p>
            <a:pPr>
              <a:lnSpc>
                <a:spcPct val="105000"/>
              </a:lnSpc>
              <a:spcAft>
                <a:spcPts val="240"/>
              </a:spcAft>
            </a:pPr>
            <a:r>
              <a:rPr sz="1050" b="0">
                <a:solidFill>
                  <a:srgbClr val="DCE6F0"/>
                </a:solidFill>
                <a:latin typeface="Noto Sans CJK SC"/>
                <a:ea typeface="Noto Sans CJK SC"/>
                <a:cs typeface="Microsoft YaHei"/>
              </a:rPr>
              <a:t>python3 tools/starry-syscall-harness/harness.py perf-diff --baseline target/starry-syscall-harness/perf/riscv64/latest --compare target/starry-syscall-harness/perf/riscv64/latest --top 8</a:t>
            </a:r>
          </a:p>
          <a:p>
            <a:pPr>
              <a:lnSpc>
                <a:spcPct val="105000"/>
              </a:lnSpc>
              <a:spcAft>
                <a:spcPts val="240"/>
              </a:spcAft>
            </a:pPr>
            <a:r>
              <a:rPr sz="1050" b="0">
                <a:solidFill>
                  <a:srgbClr val="DCE6F0"/>
                </a:solidFill>
                <a:latin typeface="Noto Sans CJK SC"/>
                <a:ea typeface="Noto Sans CJK SC"/>
                <a:cs typeface="Microsoft YaHei"/>
              </a:rPr>
              <a:t>docs/ai-harness-development-framework.md</a:t>
            </a:r>
          </a:p>
          <a:p>
            <a:pPr>
              <a:lnSpc>
                <a:spcPct val="105000"/>
              </a:lnSpc>
              <a:spcAft>
                <a:spcPts val="240"/>
              </a:spcAft>
            </a:pPr>
            <a:r>
              <a:rPr sz="1050" b="0">
                <a:solidFill>
                  <a:srgbClr val="DCE6F0"/>
                </a:solidFill>
                <a:latin typeface="Noto Sans CJK SC"/>
                <a:ea typeface="Noto Sans CJK SC"/>
                <a:cs typeface="Microsoft YaHei"/>
              </a:rPr>
              <a:t>tools/starry-syscall-harness/harness.py</a:t>
            </a:r>
          </a:p>
          <a:p>
            <a:pPr>
              <a:lnSpc>
                <a:spcPct val="105000"/>
              </a:lnSpc>
              <a:spcAft>
                <a:spcPts val="240"/>
              </a:spcAft>
            </a:pPr>
            <a:r>
              <a:rPr sz="1050" b="0">
                <a:solidFill>
                  <a:srgbClr val="DCE6F0"/>
                </a:solidFill>
                <a:latin typeface="Noto Sans CJK SC"/>
                <a:ea typeface="Noto Sans CJK SC"/>
                <a:cs typeface="Microsoft YaHei"/>
              </a:rPr>
              <a:t>tools/starry-syscall-harness/mcp_server.py</a:t>
            </a:r>
          </a:p>
          <a:p>
            <a:pPr>
              <a:lnSpc>
                <a:spcPct val="105000"/>
              </a:lnSpc>
              <a:spcAft>
                <a:spcPts val="240"/>
              </a:spcAft>
            </a:pPr>
            <a:r>
              <a:rPr sz="1050" b="0">
                <a:solidFill>
                  <a:srgbClr val="DCE6F0"/>
                </a:solidFill>
                <a:latin typeface="Noto Sans CJK SC"/>
                <a:ea typeface="Noto Sans CJK SC"/>
                <a:cs typeface="Microsoft YaHei"/>
              </a:rPr>
              <a:t>tools/starry-syscall-harness/ui_server.py</a:t>
            </a:r>
          </a:p>
          <a:p>
            <a:pPr>
              <a:lnSpc>
                <a:spcPct val="105000"/>
              </a:lnSpc>
              <a:spcAft>
                <a:spcPts val="240"/>
              </a:spcAft>
            </a:pPr>
            <a:r>
              <a:rPr sz="1050" b="0">
                <a:solidFill>
                  <a:srgbClr val="DCE6F0"/>
                </a:solidFill>
                <a:latin typeface="Noto Sans CJK SC"/>
                <a:ea typeface="Noto Sans CJK SC"/>
                <a:cs typeface="Microsoft YaHei"/>
              </a:rPr>
              <a:t>scripts/axbuild/src/starry/perf.rs</a:t>
            </a:r>
          </a:p>
          <a:p>
            <a:pPr>
              <a:lnSpc>
                <a:spcPct val="105000"/>
              </a:lnSpc>
              <a:spcAft>
                <a:spcPts val="240"/>
              </a:spcAft>
            </a:pPr>
            <a:r>
              <a:rPr sz="1050" b="0">
                <a:solidFill>
                  <a:srgbClr val="DCE6F0"/>
                </a:solidFill>
                <a:latin typeface="Noto Sans CJK SC"/>
                <a:ea typeface="Noto Sans CJK SC"/>
                <a:cs typeface="Microsoft YaHei"/>
              </a:rPr>
              <a:t>target/starry-syscall-harness/riscv64/latest/report.json</a:t>
            </a:r>
          </a:p>
          <a:p>
            <a:pPr>
              <a:lnSpc>
                <a:spcPct val="105000"/>
              </a:lnSpc>
              <a:spcAft>
                <a:spcPts val="240"/>
              </a:spcAft>
            </a:pPr>
            <a:r>
              <a:rPr sz="1050" b="0">
                <a:solidFill>
                  <a:srgbClr val="DCE6F0"/>
                </a:solidFill>
                <a:latin typeface="Noto Sans CJK SC"/>
                <a:ea typeface="Noto Sans CJK SC"/>
                <a:cs typeface="Microsoft YaHei"/>
              </a:rPr>
              <a:t>target/starry-syscall-harness/x86_64/latest/report.json</a:t>
            </a:r>
          </a:p>
          <a:p>
            <a:pPr>
              <a:lnSpc>
                <a:spcPct val="105000"/>
              </a:lnSpc>
              <a:spcAft>
                <a:spcPts val="240"/>
              </a:spcAft>
            </a:pPr>
            <a:r>
              <a:rPr sz="1050" b="0">
                <a:solidFill>
                  <a:srgbClr val="DCE6F0"/>
                </a:solidFill>
                <a:latin typeface="Noto Sans CJK SC"/>
                <a:ea typeface="Noto Sans CJK SC"/>
                <a:cs typeface="Microsoft YaHei"/>
              </a:rPr>
              <a:t>target/starry-syscall-harness/perf/riscv64/latest/report.json</a:t>
            </a:r>
          </a:p>
          <a:p>
            <a:pPr>
              <a:lnSpc>
                <a:spcPct val="105000"/>
              </a:lnSpc>
              <a:spcAft>
                <a:spcPts val="240"/>
              </a:spcAft>
            </a:pPr>
            <a:r>
              <a:rPr sz="1050" b="0">
                <a:solidFill>
                  <a:srgbClr val="DCE6F0"/>
                </a:solidFill>
                <a:latin typeface="Noto Sans CJK SC"/>
                <a:ea typeface="Noto Sans CJK SC"/>
                <a:cs typeface="Microsoft YaHei"/>
              </a:rPr>
              <a:t>target/starry-syscall-harness/perf/riscv64/latest/qperf/flamegraph.svg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510528"/>
            <a:ext cx="256032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50" b="0">
                <a:solidFill>
                  <a:srgbClr val="606F80"/>
                </a:solidFill>
                <a:latin typeface="Noto Sans CJK SC"/>
                <a:ea typeface="Noto Sans CJK SC"/>
                <a:cs typeface="Microsoft YaHei"/>
              </a:rPr>
              <a:t>AI-Harness 答辩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0232" y="6510528"/>
            <a:ext cx="694944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850" b="0">
                <a:solidFill>
                  <a:srgbClr val="606F80"/>
                </a:solidFill>
                <a:latin typeface="Noto Sans CJK SC"/>
                <a:ea typeface="Noto Sans CJK SC"/>
                <a:cs typeface="Microsoft YaHei"/>
              </a:rPr>
              <a:t>23/23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AI-Harness 答辩汇报</dc:title>
  <dc:subject>StarryOS Syscall 与 qperf 自治开发框架</dc:subject>
  <dc:creator>TGOSKits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