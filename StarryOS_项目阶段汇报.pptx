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4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609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14032" y="45720"/>
            <a:ext cx="4572000" cy="4572000"/>
          </a:xfrm>
          <a:prstGeom prst="arc">
            <a:avLst/>
          </a:prstGeom>
          <a:solidFill>
            <a:srgbClr val="0A1020">
              <a:alpha val="0"/>
            </a:srgbClr>
          </a:solidFill>
          <a:ln w="17780">
            <a:solidFill>
              <a:srgbClr val="30D6F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411480"/>
            <a:ext cx="3474720" cy="34747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7E28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984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项目阶段</a:t>
            </a:r>
            <a:r>
              <a:rPr lang="en-US" sz="3300" b="1" dirty="0" err="1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86384" y="2770632"/>
            <a:ext cx="3291840" cy="0"/>
          </a:xfrm>
          <a:prstGeom prst="line">
            <a:avLst/>
          </a:prstGeom>
          <a:noFill/>
          <a:ln w="27940">
            <a:solidFill>
              <a:srgbClr val="37E2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0906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syscall 测例 · Namespace · Seccomp · OverlayFS · Capabilities · OCI/runc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" y="5376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蒋丰泽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5705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项目总结与技术实现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项目总览：从系统调用测例到 OCI 容器运行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88720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目标：补齐 StarryOS 对 Docker / OCI 运行时所依赖的内核能力，最终用真实 runc 进行端到端验证。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03120" y="2788920"/>
            <a:ext cx="576072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240280"/>
            <a:ext cx="1051560" cy="1051560"/>
          </a:xfrm>
          <a:prstGeom prst="ellipse">
            <a:avLst/>
          </a:prstGeom>
          <a:solidFill>
            <a:srgbClr val="37E28B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" y="3474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syscall 测例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 socket 基础能力验证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70832" y="2788920"/>
            <a:ext cx="576072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53512" y="2240280"/>
            <a:ext cx="1051560" cy="1051560"/>
          </a:xfrm>
          <a:prstGeom prst="ellipse">
            <a:avLst/>
          </a:prstGeom>
          <a:solidFill>
            <a:srgbClr val="30D6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2514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88920" y="3474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容器基础层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33472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/ cgroup / 网络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38544" y="2788920"/>
            <a:ext cx="576072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21224" y="2240280"/>
            <a:ext cx="1051560" cy="1051560"/>
          </a:xfrm>
          <a:prstGeom prst="ellipse">
            <a:avLst/>
          </a:prstGeom>
          <a:solidFill>
            <a:srgbClr val="30D6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21224" y="2514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56632" y="3474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安全与权限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 + capabilities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06256" y="2788920"/>
            <a:ext cx="576072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88936" y="2240280"/>
            <a:ext cx="1051560" cy="1051560"/>
          </a:xfrm>
          <a:prstGeom prst="ellipse">
            <a:avLst/>
          </a:prstGeom>
          <a:solidFill>
            <a:srgbClr val="30D6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88936" y="2514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24344" y="3474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文件系统层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68896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OverlayFS + pivot_root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56648" y="2240280"/>
            <a:ext cx="1051560" cy="1051560"/>
          </a:xfrm>
          <a:prstGeom prst="ellipse">
            <a:avLst/>
          </a:prstGeom>
          <a:solidFill>
            <a:srgbClr val="FFC857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56648" y="2514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92056" y="3474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运行时测试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36608" y="3822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OCI bundle + runc run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" y="5074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2900" dirty="0"/>
          </a:p>
        </p:txBody>
      </p:sp>
      <p:sp>
        <p:nvSpPr>
          <p:cNvPr id="36" name="Text 34"/>
          <p:cNvSpPr/>
          <p:nvPr/>
        </p:nvSpPr>
        <p:spPr>
          <a:xfrm>
            <a:off x="1005840" y="5641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类型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0" y="5074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3657600" y="5641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核心系统调用 clone/unshare/setns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37960" y="5074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4096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6537960" y="5641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cBPF 指令上限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235440" y="5074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9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900" dirty="0"/>
          </a:p>
        </p:txBody>
      </p:sp>
      <p:sp>
        <p:nvSpPr>
          <p:cNvPr id="42" name="Text 40"/>
          <p:cNvSpPr/>
          <p:nvPr/>
        </p:nvSpPr>
        <p:spPr>
          <a:xfrm>
            <a:off x="9235440" y="5641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runc 端到端用例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第一阶段：syscall 测例补充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 / SYSCALL TESTS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9692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r>
              <a:rPr lang="en-US" sz="14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socket </a:t>
            </a:r>
            <a:r>
              <a:rPr lang="en-US" sz="1400" dirty="0" err="1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相关系统调用</a:t>
            </a:r>
            <a:r>
              <a:rPr lang="en-US" sz="14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152238"/>
          </a:solidFill>
          <a:ln w="11430">
            <a:solidFill>
              <a:srgbClr val="37E28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048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17320" y="2084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getsockname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3957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已完成测例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0" y="182880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152238"/>
          </a:solidFill>
          <a:ln w="11430">
            <a:solidFill>
              <a:srgbClr val="37E28B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048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983480" y="2084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getpeername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3957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已完成测例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55280" y="182880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152238"/>
          </a:solidFill>
          <a:ln w="11430">
            <a:solidFill>
              <a:srgbClr val="37E28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2048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49640" y="2084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getsockopt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23957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已完成测例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" y="333756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152238"/>
          </a:solidFill>
          <a:ln w="11430">
            <a:solidFill>
              <a:srgbClr val="37E28B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17320" y="35935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setsockopt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39044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已完成测例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0" y="333756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152238"/>
          </a:solidFill>
          <a:ln w="11430">
            <a:solidFill>
              <a:srgbClr val="37E28B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983480" y="35935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39044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已完成测例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62672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80960" y="452628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 实现过程：六层能力栈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 IMPLEMENTATION FLOW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从命令输入到进程运行，容器启动依赖多层内核能力协同。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572768"/>
            <a:ext cx="10515600" cy="640080"/>
          </a:xfrm>
          <a:prstGeom prst="chevron">
            <a:avLst/>
          </a:prstGeom>
          <a:solidFill>
            <a:srgbClr val="30D6FF">
              <a:alpha val="86000"/>
            </a:srgbClr>
          </a:solidFill>
          <a:ln w="12700">
            <a:solidFill>
              <a:srgbClr val="30D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6916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 层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00200" y="166420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客户端交互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00200" y="192938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命令接收 / 参数验证 / 请求转发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77240" y="2286000"/>
            <a:ext cx="10515600" cy="640080"/>
          </a:xfrm>
          <a:prstGeom prst="chevron">
            <a:avLst/>
          </a:prstGeom>
          <a:solidFill>
            <a:srgbClr val="37E28B">
              <a:alpha val="86000"/>
            </a:srgbClr>
          </a:solidFill>
          <a:ln w="12700">
            <a:solidFill>
              <a:srgbClr val="37E2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40487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00200" y="23774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镜像准备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00200" y="264261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镜像获取 / 分层解包 / OverlayFS rootfs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77240" y="2999232"/>
            <a:ext cx="10515600" cy="640080"/>
          </a:xfrm>
          <a:prstGeom prst="chevron">
            <a:avLst/>
          </a:prstGeom>
          <a:solidFill>
            <a:srgbClr val="FFC857">
              <a:alpha val="86000"/>
            </a:srgbClr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11810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 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00200" y="3090672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容器创建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00200" y="3355848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/ Cgroup / 网络配置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77240" y="3712464"/>
            <a:ext cx="10515600" cy="640080"/>
          </a:xfrm>
          <a:prstGeom prst="chevron">
            <a:avLst/>
          </a:prstGeom>
          <a:solidFill>
            <a:srgbClr val="FF9F43">
              <a:alpha val="86000"/>
            </a:srgbClr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8313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4 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00200" y="380390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安全配置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600200" y="40690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权限削减 / seccomp / 访问控制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777240" y="4425696"/>
            <a:ext cx="10515600" cy="640080"/>
          </a:xfrm>
          <a:prstGeom prst="chevron">
            <a:avLst/>
          </a:prstGeom>
          <a:solidFill>
            <a:srgbClr val="A78BFA">
              <a:alpha val="86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45445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 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00200" y="4517136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容器启动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600200" y="478231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pivot_root / 伪文件系统 / exec 用户命令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77240" y="5138928"/>
            <a:ext cx="10515600" cy="640080"/>
          </a:xfrm>
          <a:prstGeom prst="chevron">
            <a:avLst/>
          </a:prstGeom>
          <a:solidFill>
            <a:srgbClr val="FF5D73">
              <a:alpha val="86000"/>
            </a:srgbClr>
          </a:solidFill>
          <a:ln w="12700">
            <a:solidFill>
              <a:srgbClr val="FF5D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52578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6 层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00200" y="523036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进程运行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600200" y="549554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 exec / 资源监控 / 日志收集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3F5C1D-C007-EE4F-0EAC-41CB52EC6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009" y="0"/>
            <a:ext cx="8455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8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Namespace：两层架构与职责拆分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/ ARCHITECTURE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5156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 namespace 类型定义与内核集成解耦：axnsproxy 负责抽象，kernel 负责系统调用与进程模型接入。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2788920" y="2926080"/>
            <a:ext cx="146304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91116" y="2926080"/>
            <a:ext cx="2648348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Shape 11"/>
          <p:cNvSpPr/>
          <p:nvPr/>
        </p:nvSpPr>
        <p:spPr>
          <a:xfrm>
            <a:off x="822960" y="2148840"/>
            <a:ext cx="1965960" cy="1234440"/>
          </a:xfrm>
          <a:prstGeom prst="roundRect">
            <a:avLst>
              <a:gd name="adj" fmla="val 5185"/>
            </a:avLst>
          </a:prstGeom>
          <a:solidFill>
            <a:srgbClr val="152238"/>
          </a:solidFill>
          <a:ln w="12700">
            <a:solidFill>
              <a:srgbClr val="30D6F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276856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axnsproxy crate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类型定义层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214884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152238"/>
          </a:solidFill>
          <a:ln w="12700">
            <a:solidFill>
              <a:srgbClr val="37E28B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227685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NsProxy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聚合器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30184" y="21717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152238"/>
          </a:solidFill>
          <a:ln w="12700">
            <a:solidFill>
              <a:srgbClr val="FFC857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7976" y="2301285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kernel crate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005072"/>
            <a:ext cx="4160520" cy="1389888"/>
          </a:xfrm>
          <a:prstGeom prst="roundRect">
            <a:avLst>
              <a:gd name="adj" fmla="val 3289"/>
            </a:avLst>
          </a:prstGeom>
          <a:solidFill>
            <a:srgbClr val="07111F"/>
          </a:solidFill>
          <a:ln w="8890">
            <a:solidFill>
              <a:srgbClr val="3854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114800"/>
            <a:ext cx="3904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uts.rs   UtNamespace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ipc.rs   IpcNamespace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mnt.rs   MntNamespace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pid.rs   PidNamespace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net.rs   NetNamespace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user.rs  UserNamespace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lib.rs   NsProxy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400800" y="3822192"/>
            <a:ext cx="4709160" cy="1627632"/>
          </a:xfrm>
          <a:prstGeom prst="roundRect">
            <a:avLst>
              <a:gd name="adj" fmla="val 2809"/>
            </a:avLst>
          </a:prstGeom>
          <a:solidFill>
            <a:srgbClr val="07111F"/>
          </a:solidFill>
          <a:ln w="8890">
            <a:solidFill>
              <a:srgbClr val="3854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3931920"/>
            <a:ext cx="4453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task/mod.rs        ProcessData.nsproxy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file/nsfd.rs       NsFd 文件描述符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namespace.rs       sys_unshare + sys_setns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clone.rs           clone(CLONE_NEW*)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proc.rs            /proc/&lt;pid&gt;/ns/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mount.rs           pivot_root / mount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种 Namespace 支持状态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/ STATUS MATRIX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9875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 Linux 标准 namespace；cgroup namespace 当前为兼容性模拟。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1664208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746504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79826" y="1746504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929384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hostname/domainname 隔离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6126480" y="1664208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746504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IPC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74786" y="1746504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36208" y="1929384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ns_id 过滤 SysV IPC 资源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31520" y="2514600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596896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79826" y="2596896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1248" y="2779776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进程作用域 FsContext + pivot_root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126480" y="2514600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596896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74786" y="2596896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2779776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嵌套层级 + 本地 PID 映射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731520" y="3364992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0D6FF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447288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Network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79826" y="3447288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" y="3630168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 ns 可见真实设备，非根仅 lo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6126480" y="3364992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447288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74786" y="3447288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36208" y="3630168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UID/GID 映射 + overflow 65534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31520" y="4215384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97680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Cgroup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79826" y="4297680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" y="4480560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接受 CLONE_NEWCGROUP，不隔离层级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144768" y="5084064"/>
            <a:ext cx="4846320" cy="804672"/>
          </a:xfrm>
          <a:prstGeom prst="roundRect">
            <a:avLst>
              <a:gd name="adj" fmla="val 6818"/>
            </a:avLst>
          </a:prstGeom>
          <a:solidFill>
            <a:srgbClr val="2C250D"/>
          </a:solidFill>
          <a:ln w="10160">
            <a:solidFill>
              <a:srgbClr val="FFC857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52852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Cgroup</a:t>
            </a:r>
            <a:r>
              <a:rPr lang="en-US" sz="12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namespace 为“接口兼容优先”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382512" y="558698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cgroup v2 层级实际是全局的，测试中主要验证运行时能够通过。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关键机制：写时复制 + 延迟 PID 生效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/ MECHANICS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789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核心设计用 Arc&lt;SpinNoIrq&lt;T&gt;&gt; 共享引用；unshare/setns/clone 在不同路径上替换或准备 namespace。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37360" y="2743200"/>
            <a:ext cx="128016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3480" y="2743200"/>
            <a:ext cx="128016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2743200"/>
            <a:ext cx="114300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2221992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152238"/>
          </a:solidFill>
          <a:ln w="12700">
            <a:solidFill>
              <a:srgbClr val="30D6F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350008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fork()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clone_all()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2221992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152238"/>
          </a:solidFill>
          <a:ln w="12700">
            <a:solidFill>
              <a:srgbClr val="37E28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350008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 Arc 引用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低成本复制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221992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152238"/>
          </a:solidFill>
          <a:ln w="12700">
            <a:solidFill>
              <a:srgbClr val="FFC857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350008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unshare_*()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新建实例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72600" y="2221992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52238"/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350008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setns()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替换为已有 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3986784"/>
            <a:ext cx="5166360" cy="1627632"/>
          </a:xfrm>
          <a:prstGeom prst="roundRect">
            <a:avLst>
              <a:gd name="adj" fmla="val 2809"/>
            </a:avLst>
          </a:prstGeom>
          <a:solidFill>
            <a:srgbClr val="07111F"/>
          </a:solidFill>
          <a:ln w="8890">
            <a:solidFill>
              <a:srgbClr val="3854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4096512"/>
            <a:ext cx="49103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 struct NsProxy {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uts_ns: Arc&lt;SpinNoIrq&lt;UtNamespace&gt;&gt;,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ipc_ns: Arc&lt;SpinNoIrq&lt;IpcNamespace&gt;&gt;,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mnt_ns: Arc&lt;SpinNoIrq&lt;MntNamespace&gt;&gt;,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pid_ns: Arc&lt;SpinNoIrq&lt;PidNamespace&gt;&gt;,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child_pid_ns: Option&lt;Arc&lt;SpinNoIrq&lt;PidNamespace&gt;&gt;&gt;,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net_ns: Arc&lt;SpinNoIrq&lt;NetNamespace&gt;&gt;,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user_ns: Arc&lt;SpinNoIrq&lt;UserNamespace&gt;&gt;,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492240" y="4069080"/>
            <a:ext cx="4343400" cy="1335024"/>
          </a:xfrm>
          <a:prstGeom prst="roundRect">
            <a:avLst>
              <a:gd name="adj" fmla="val 4795"/>
            </a:avLst>
          </a:prstGeom>
          <a:solidFill>
            <a:srgbClr val="13283A"/>
          </a:solidFill>
          <a:ln w="10160">
            <a:solidFill>
              <a:srgbClr val="30D6FF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4279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 Namespace 特殊处理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9984" y="4626864"/>
            <a:ext cx="3703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6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clone(CLONE_NEWPID) 不立即切换</a:t>
            </a:r>
            <a:endParaRPr lang="en-US" sz="1060" dirty="0"/>
          </a:p>
          <a:p>
            <a:r>
              <a:rPr lang="en-US" sz="106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放入 child_pid_ns，子进程启动后成为 PID 1</a:t>
            </a:r>
            <a:endParaRPr lang="en-US" sz="10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Seccomp：系统调用入口前的安全过滤器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 / 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handle_syscall() 分发前先评估 seccomp，决定放行、返回错误或终止线程/进程。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920240" y="2907792"/>
            <a:ext cx="132588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2907792"/>
            <a:ext cx="137160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09560" y="2907792"/>
            <a:ext cx="137160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" y="2359152"/>
            <a:ext cx="173736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30D6F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8716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用户空间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seccomp/prctl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187452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37E28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2487168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handle_syscall()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入口检查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2359152"/>
            <a:ext cx="187452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FFC857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2487168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SeccompState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evaluate()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81160" y="2359152"/>
            <a:ext cx="178308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2487168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系统调用分发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或拦截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434840"/>
            <a:ext cx="3063240" cy="749808"/>
          </a:xfrm>
          <a:prstGeom prst="roundRect">
            <a:avLst>
              <a:gd name="adj" fmla="val 7317"/>
            </a:avLst>
          </a:prstGeom>
          <a:solidFill>
            <a:srgbClr val="1B2A44"/>
          </a:solidFill>
          <a:ln w="9525">
            <a:solidFill>
              <a:srgbClr val="A9B8CF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6268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Disabled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15568" y="488289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默认放行所有系统调用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617720" y="4434840"/>
            <a:ext cx="3063240" cy="749808"/>
          </a:xfrm>
          <a:prstGeom prst="roundRect">
            <a:avLst>
              <a:gd name="adj" fmla="val 7317"/>
            </a:avLst>
          </a:prstGeom>
          <a:solidFill>
            <a:srgbClr val="1B2A44"/>
          </a:solidFill>
          <a:ln w="9525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46268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Strict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18888" y="488289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仅允许 read/write/exit/exit_group/rt_sigreturn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321040" y="4434840"/>
            <a:ext cx="3063240" cy="749808"/>
          </a:xfrm>
          <a:prstGeom prst="roundRect">
            <a:avLst>
              <a:gd name="adj" fmla="val 7317"/>
            </a:avLst>
          </a:prstGeom>
          <a:solidFill>
            <a:srgbClr val="1B2A44"/>
          </a:solidFill>
          <a:ln w="9525">
            <a:solidFill>
              <a:srgbClr val="30D6F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22208" y="46268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Filter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522208" y="488289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由经典 BPF 程序决定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Seccomp：cBPF 解释器与动作优先级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 / cBPF + DECISION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424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纯软件解释器支持完整经典 BPF 指令集；多过滤器按 Linux 优先级合并，fail-closed 保守拒绝。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1600200"/>
            <a:ext cx="45720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682496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LD/LDX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81528" y="168249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9536" y="1865376"/>
            <a:ext cx="4352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加载 syscall nr / arch / args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749808" y="2130552"/>
            <a:ext cx="45720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212848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81528" y="221284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9536" y="2395728"/>
            <a:ext cx="4352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ADD/SUB/MUL/DIV/AND/OR/...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49808" y="2660904"/>
            <a:ext cx="45720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743200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JMP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81528" y="2743200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9536" y="2926080"/>
            <a:ext cx="4352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JA/JEQ/JGT/JGE/JSET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749808" y="3191256"/>
            <a:ext cx="45720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3273552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81528" y="327355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9536" y="3456432"/>
            <a:ext cx="4352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 SECCOMP_RET_*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749808" y="3721608"/>
            <a:ext cx="45720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380390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MISC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81528" y="380390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9536" y="3986784"/>
            <a:ext cx="4352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TAX / TXA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6400800" y="1600200"/>
            <a:ext cx="3200400" cy="301752"/>
          </a:xfrm>
          <a:prstGeom prst="rect">
            <a:avLst/>
          </a:prstGeom>
          <a:solidFill>
            <a:srgbClr val="FF5D73">
              <a:alpha val="22000"/>
            </a:srgbClr>
          </a:solidFill>
          <a:ln w="6350">
            <a:solidFill>
              <a:srgbClr val="FF5D73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166420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KILL_PROCESS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8275320" y="166420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FF5D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400800" y="2103120"/>
            <a:ext cx="3200400" cy="301752"/>
          </a:xfrm>
          <a:prstGeom prst="rect">
            <a:avLst/>
          </a:prstGeom>
          <a:solidFill>
            <a:srgbClr val="FF5D73">
              <a:alpha val="22000"/>
            </a:srgbClr>
          </a:solidFill>
          <a:ln w="6350">
            <a:solidFill>
              <a:srgbClr val="FF5D73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21671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KILL_THREAD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275320" y="216712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FF5D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6400800" y="2606040"/>
            <a:ext cx="3200400" cy="301752"/>
          </a:xfrm>
          <a:prstGeom prst="rect">
            <a:avLst/>
          </a:prstGeom>
          <a:solidFill>
            <a:srgbClr val="FFC857">
              <a:alpha val="22000"/>
            </a:srgbClr>
          </a:solidFill>
          <a:ln w="6350">
            <a:solidFill>
              <a:srgbClr val="FFC857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67004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8275320" y="2670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→ ENOSYS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6400800" y="3108960"/>
            <a:ext cx="3200400" cy="301752"/>
          </a:xfrm>
          <a:prstGeom prst="rect">
            <a:avLst/>
          </a:prstGeom>
          <a:solidFill>
            <a:srgbClr val="FF9F43">
              <a:alpha val="22000"/>
            </a:srgbClr>
          </a:solidFill>
          <a:ln w="6350">
            <a:solidFill>
              <a:srgbClr val="FF9F43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317296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ERRNO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275320" y="317296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FF9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6400800" y="3611880"/>
            <a:ext cx="3200400" cy="301752"/>
          </a:xfrm>
          <a:prstGeom prst="rect">
            <a:avLst/>
          </a:prstGeom>
          <a:solidFill>
            <a:srgbClr val="FFC857">
              <a:alpha val="22000"/>
            </a:srgbClr>
          </a:solidFill>
          <a:ln w="6350">
            <a:solidFill>
              <a:srgbClr val="FFC857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367588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8275320" y="36758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→ ENOSYS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6400800" y="4114800"/>
            <a:ext cx="3200400" cy="301752"/>
          </a:xfrm>
          <a:prstGeom prst="rect">
            <a:avLst/>
          </a:prstGeom>
          <a:solidFill>
            <a:srgbClr val="30D6FF">
              <a:alpha val="22000"/>
            </a:srgbClr>
          </a:solidFill>
          <a:ln w="6350">
            <a:solidFill>
              <a:srgbClr val="30D6FF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417880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8275320" y="417880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→ ALLOW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6400800" y="4617720"/>
            <a:ext cx="3200400" cy="301752"/>
          </a:xfrm>
          <a:prstGeom prst="rect">
            <a:avLst/>
          </a:prstGeom>
          <a:solidFill>
            <a:srgbClr val="37E28B">
              <a:alpha val="22000"/>
            </a:srgbClr>
          </a:solidFill>
          <a:ln w="6350">
            <a:solidFill>
              <a:srgbClr val="37E28B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0528" y="46817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8275320" y="468172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最低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868680" y="507492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301820"/>
          </a:solidFill>
          <a:ln w="10160">
            <a:solidFill>
              <a:srgbClr val="FF5D73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0704" y="532180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fail-closed：非法指令 / 越界 / 除零 / 跳转错误 → KillThread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OverlayFS：联合挂载与惰性 Copy-up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OVERLAYFS / FILESYSTEM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5156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merged 视图由 lower 只读层与 upper 可写层合并形成；首次写入时将 lower 条目 copy-up 到 upper。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160020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30D6FF">
              <a:alpha val="16000"/>
            </a:srgbClr>
          </a:solidFill>
          <a:ln w="11430">
            <a:solidFill>
              <a:srgbClr val="30D6F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8308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merged 目录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441448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37E28B">
              <a:alpha val="16000"/>
            </a:srgbClr>
          </a:solidFill>
          <a:ln w="11430">
            <a:solidFill>
              <a:srgbClr val="37E28B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6243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upper 可写层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282696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C857">
              <a:alpha val="16000"/>
            </a:srgbClr>
          </a:solidFill>
          <a:ln w="11430">
            <a:solidFill>
              <a:srgbClr val="FFC857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46557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lower 只读层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123944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A78BFA">
              <a:alpha val="16000"/>
            </a:srgbClr>
          </a:solidFill>
          <a:ln w="1143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30682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 工作目录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724912"/>
            <a:ext cx="2907792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33872" y="219456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52238"/>
          </a:solidFill>
          <a:ln w="12700">
            <a:solidFill>
              <a:srgbClr val="30D6F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2322576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lookup / readdir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合并视图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07808" y="2724912"/>
            <a:ext cx="941832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49640" y="2194560"/>
            <a:ext cx="2057400" cy="1051560"/>
          </a:xfrm>
          <a:prstGeom prst="roundRect">
            <a:avLst>
              <a:gd name="adj" fmla="val 6087"/>
            </a:avLst>
          </a:prstGeom>
          <a:solidFill>
            <a:srgbClr val="152238"/>
          </a:solidFill>
          <a:ln w="12700">
            <a:solidFill>
              <a:srgbClr val="37E28B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22792" y="2322576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write/append/xattr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 copy-up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4800600"/>
            <a:ext cx="45262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4882896"/>
            <a:ext cx="208208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 lower 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77083" y="4882896"/>
            <a:ext cx="190103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4800600"/>
            <a:ext cx="45262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4882896"/>
            <a:ext cx="208208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只读/读写模式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89163" y="4882896"/>
            <a:ext cx="190103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8680" y="5349240"/>
            <a:ext cx="45262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" y="5431536"/>
            <a:ext cx="208208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Whiteout char 0:0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77083" y="5431536"/>
            <a:ext cx="190103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5349240"/>
            <a:ext cx="45262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5431536"/>
            <a:ext cx="208208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Opaque 目录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89163" y="5431536"/>
            <a:ext cx="190103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68680" y="5897880"/>
            <a:ext cx="45262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5980176"/>
            <a:ext cx="208208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xattr 写前 copy-up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77083" y="5980176"/>
            <a:ext cx="190103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5897880"/>
            <a:ext cx="45262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0488" y="5980176"/>
            <a:ext cx="208208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index=on / redirect_dir=on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89163" y="5980176"/>
            <a:ext cx="190103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Capabilities：把 root 权限拆成可控能力集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CAPABILITIES / PERMISSION MODEL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5156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 Linux POSIX capabilities V3 ABI：capget/capset/prctl 与约 20 处内核能力检查点。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1874520"/>
            <a:ext cx="1143000" cy="1143000"/>
          </a:xfrm>
          <a:prstGeom prst="ellipse">
            <a:avLst/>
          </a:prstGeom>
          <a:solidFill>
            <a:srgbClr val="A78BFA">
              <a:alpha val="8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240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Inheritable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" y="349300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 传递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54096" y="1874520"/>
            <a:ext cx="1143000" cy="1143000"/>
          </a:xfrm>
          <a:prstGeom prst="ellipse">
            <a:avLst/>
          </a:prstGeom>
          <a:solidFill>
            <a:srgbClr val="30D6FF">
              <a:alpha val="8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2240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98064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Permitted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25496" y="349300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能力上限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66944" y="1874520"/>
            <a:ext cx="1143000" cy="1143000"/>
          </a:xfrm>
          <a:prstGeom prst="ellipse">
            <a:avLst/>
          </a:prstGeom>
          <a:solidFill>
            <a:srgbClr val="37E28B">
              <a:alpha val="8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2240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Eff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10912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Effective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38344" y="349300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当前有效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79792" y="1874520"/>
            <a:ext cx="1143000" cy="1143000"/>
          </a:xfrm>
          <a:prstGeom prst="ellipse">
            <a:avLst/>
          </a:prstGeom>
          <a:solidFill>
            <a:srgbClr val="FFC857">
              <a:alpha val="8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9792" y="2240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23760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Bounding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51192" y="349300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绝对上限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692640" y="1874520"/>
            <a:ext cx="1143000" cy="1143000"/>
          </a:xfrm>
          <a:prstGeom prst="ellipse">
            <a:avLst/>
          </a:prstGeom>
          <a:solidFill>
            <a:srgbClr val="FF9F43">
              <a:alpha val="8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2240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0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36608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Ambient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64040" y="349300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非特权保留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68680" y="4270248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13283A"/>
          </a:solidFill>
          <a:ln w="10160">
            <a:solidFill>
              <a:srgbClr val="30D6FF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8136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能力规则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7280" y="4809744"/>
            <a:ext cx="41148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effective ⊆ permitted</a:t>
            </a:r>
            <a:endParaRPr lang="en-US" sz="1050" dirty="0"/>
          </a:p>
          <a:p>
            <a:r>
              <a:rPr lang="en-US" sz="10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ambient ⊆ permitted ∩ inheritable</a:t>
            </a:r>
            <a:endParaRPr lang="en-US" sz="1050" dirty="0"/>
          </a:p>
          <a:p>
            <a:r>
              <a:rPr lang="en-US" sz="10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capset 只能降级，不能提权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4270248"/>
            <a:ext cx="4434840" cy="1234440"/>
          </a:xfrm>
          <a:prstGeom prst="roundRect">
            <a:avLst>
              <a:gd name="adj" fmla="val 4444"/>
            </a:avLst>
          </a:prstGeom>
          <a:solidFill>
            <a:srgbClr val="132513"/>
          </a:solidFill>
          <a:ln w="1016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主要检查点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720840" y="4809744"/>
            <a:ext cx="38862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文件系统：CHOWN / FOWNER</a:t>
            </a:r>
            <a:endParaRPr lang="en-US" sz="1050" dirty="0"/>
          </a:p>
          <a:p>
            <a:r>
              <a:rPr lang="en-US" sz="10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网络：NET_RAW</a:t>
            </a:r>
            <a:endParaRPr lang="en-US" sz="1050" dirty="0"/>
          </a:p>
          <a:p>
            <a:r>
              <a:rPr lang="en-US" sz="10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系统：SYS_ADMIN / SYS_BOOT / SYS_RESOURCE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OCI 与 runc：端到端容器运行测试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OCI / RUNC TEST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515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使用真实 runc 二进制在 StarryOS 上启动 OCI bundle，验证容器创建、运行、删除流程。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148840" y="2880360"/>
            <a:ext cx="118872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3480" y="2880360"/>
            <a:ext cx="128016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63840" y="2880360"/>
            <a:ext cx="1280160" cy="0"/>
          </a:xfrm>
          <a:prstGeom prst="line">
            <a:avLst/>
          </a:prstGeom>
          <a:noFill/>
          <a:ln w="13970">
            <a:solidFill>
              <a:srgbClr val="38547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2331720"/>
            <a:ext cx="192024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30D6F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45973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 bundle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config.json + rootfs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331720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37E28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2459736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runc run -b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starry-runc-basic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FFC857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459736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容器执行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/bin/sh -c echo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2331720"/>
            <a:ext cx="2057400" cy="1097280"/>
          </a:xfrm>
          <a:prstGeom prst="roundRect">
            <a:avLst>
              <a:gd name="adj" fmla="val 5833"/>
            </a:avLst>
          </a:prstGeom>
          <a:solidFill>
            <a:srgbClr val="152238"/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2459736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验证输出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STARRY_OCI_RUNC_CONTAINER_OK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206240"/>
            <a:ext cx="4389120" cy="1371600"/>
          </a:xfrm>
          <a:prstGeom prst="roundRect">
            <a:avLst>
              <a:gd name="adj" fmla="val 3333"/>
            </a:avLst>
          </a:prstGeom>
          <a:solidFill>
            <a:srgbClr val="07111F"/>
          </a:solidFill>
          <a:ln w="8890">
            <a:solidFill>
              <a:srgbClr val="3854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4315968"/>
            <a:ext cx="4133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$BUNDLE/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config.json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rootfs/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bin/busybox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bin/sh -&gt; busybox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lib/ld-musl-x86_64.so.1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dev/ etc/ proc/ sys/ tmp/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D8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run/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080760" y="4224528"/>
            <a:ext cx="4389120" cy="1188720"/>
          </a:xfrm>
          <a:prstGeom prst="roundRect">
            <a:avLst>
              <a:gd name="adj" fmla="val 4615"/>
            </a:avLst>
          </a:prstGeom>
          <a:solidFill>
            <a:srgbClr val="132513"/>
          </a:solidFill>
          <a:ln w="1016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443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测试覆盖的核心能力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27648" y="4727448"/>
            <a:ext cx="370332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r>
              <a:rPr lang="en-US" sz="100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命名空间隔离</a:t>
            </a:r>
            <a:endParaRPr lang="en-US" sz="1000" dirty="0"/>
          </a:p>
          <a:p>
            <a:r>
              <a:rPr lang="en-US" sz="100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cgroup v2 兼容层</a:t>
            </a:r>
            <a:endParaRPr lang="en-US" sz="1000" dirty="0"/>
          </a:p>
          <a:p>
            <a:r>
              <a:rPr lang="en-US" sz="100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pivot_root 文件系统切换</a:t>
            </a:r>
            <a:endParaRPr lang="en-US" sz="1000" dirty="0"/>
          </a:p>
          <a:p>
            <a:r>
              <a:rPr lang="en-US" sz="100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/proc 伪文件系统兼容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 runc 补齐的内核兼容性接口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RUNC COMPATIBILITY LAYER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6984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实际通过 runc 需要大量“细节兼容”：伪文件系统、cgroup v2、路径 fd 操作和特殊系统调用语义。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645920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0D6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728216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cgroup v2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25546" y="1728216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兼容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1911096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个接口文件；cgroup.kill 接受但不强制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728216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procfs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74786" y="1728216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兼容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36208" y="1911096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/proc inode=1、mountinfo、filesystems、self/fd/*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77240" y="2633472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715768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pivot_root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25546" y="2715768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兼容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6968" y="2898648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支持容器 init 进程切换 rootfs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126480" y="2633472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9F43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715768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readlinkat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74786" y="2715768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2898648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尾部 / → EINVAL 兼容 securejoin/runc 探测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777240" y="3621024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3703320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fchmodat2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25546" y="3703320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6968" y="3886200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 AT_EMPTY_PATH 更新设备节点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6126480" y="3621024"/>
            <a:ext cx="480060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5D73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703320"/>
            <a:ext cx="22082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CLONE_FS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74786" y="3703320"/>
            <a:ext cx="20162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5D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兼容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36208" y="3886200"/>
            <a:ext cx="4581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满足 runc 锁定挂载重新映射线程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103120" y="5084064"/>
            <a:ext cx="7955280" cy="658368"/>
          </a:xfrm>
          <a:prstGeom prst="roundRect">
            <a:avLst>
              <a:gd name="adj" fmla="val 8333"/>
            </a:avLst>
          </a:prstGeom>
          <a:solidFill>
            <a:srgbClr val="101D34"/>
          </a:solidFill>
          <a:ln w="10160">
            <a:solidFill>
              <a:srgbClr val="30D6FF">
                <a:alpha val="7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5330952"/>
            <a:ext cx="7406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 err="1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</a:t>
            </a:r>
            <a:r>
              <a:rPr lang="en-US" sz="13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已具备运行真实 OCI 容器的最小闭环能力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实现程度与限制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COMPLETION + LIMITATIONS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6984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主链路已经打通，但仍有若干后续可完善项，尤其是完整 Docker 与更复杂的运行时场景。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627632"/>
            <a:ext cx="512064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09928"/>
            <a:ext cx="235549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Namespace / clone / unshare / setns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34486" y="1709928"/>
            <a:ext cx="215066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2221992"/>
            <a:ext cx="512064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304288"/>
            <a:ext cx="235549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 Filter / Strict / TSYNC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34486" y="2304288"/>
            <a:ext cx="215066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2816352"/>
            <a:ext cx="512064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898648"/>
            <a:ext cx="235549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OverlayFS 联合挂载 / copy-up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34486" y="2898648"/>
            <a:ext cx="215066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410712"/>
            <a:ext cx="512064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93008"/>
            <a:ext cx="235549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Capabilities V3 ABI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34486" y="3493008"/>
            <a:ext cx="215066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4005072"/>
            <a:ext cx="512064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37E28B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087368"/>
            <a:ext cx="235549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OCI runc basic 用例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34486" y="4087368"/>
            <a:ext cx="215066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1627632"/>
            <a:ext cx="47548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1709928"/>
            <a:ext cx="218724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 docker 命令链路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17229" y="1709928"/>
            <a:ext cx="199705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未完成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2221992"/>
            <a:ext cx="47548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2304288"/>
            <a:ext cx="218724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cgroup 资源强制限制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17229" y="2304288"/>
            <a:ext cx="199705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未实现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2816352"/>
            <a:ext cx="47548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898648"/>
            <a:ext cx="218724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多容器并发 / hooks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917229" y="2898648"/>
            <a:ext cx="199705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未测试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3410712"/>
            <a:ext cx="47548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3493008"/>
            <a:ext cx="218724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runc 仅 x86_64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17229" y="3493008"/>
            <a:ext cx="199705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受依赖限制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92240" y="4005072"/>
            <a:ext cx="4754880" cy="448056"/>
          </a:xfrm>
          <a:prstGeom prst="roundRect">
            <a:avLst>
              <a:gd name="adj" fmla="val 12245"/>
            </a:avLst>
          </a:prstGeom>
          <a:solidFill>
            <a:srgbClr val="1B2A44"/>
          </a:solidFill>
          <a:ln w="889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4087368"/>
            <a:ext cx="218724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seccomp TRAP / TRACE / USER_NOTIF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917229" y="4087368"/>
            <a:ext cx="199705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未模拟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2960" y="5138928"/>
            <a:ext cx="10424160" cy="658368"/>
          </a:xfrm>
          <a:prstGeom prst="roundRect">
            <a:avLst>
              <a:gd name="adj" fmla="val 8333"/>
            </a:avLst>
          </a:prstGeom>
          <a:solidFill>
            <a:srgbClr val="2A2210"/>
          </a:solidFill>
          <a:ln w="10160">
            <a:solidFill>
              <a:srgbClr val="FFC857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" y="5394960"/>
            <a:ext cx="9921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后续方向：补齐完整 Docker 流程、增强 cgroup 限制、扩大 OCI/runc 测试矩阵。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6FF">
              <a:alpha val="82000"/>
            </a:srgbClr>
          </a:solidFill>
          <a:ln w="12700">
            <a:solidFill>
              <a:srgbClr val="30D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8288"/>
            <a:ext cx="2560320" cy="256032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0D6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256032"/>
            <a:ext cx="1828800" cy="182880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总结与收获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SUMMARY + LESSONS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6483096"/>
            <a:ext cx="11064240" cy="0"/>
          </a:xfrm>
          <a:prstGeom prst="line">
            <a:avLst/>
          </a:prstGeom>
          <a:noFill/>
          <a:ln w="6350">
            <a:solidFill>
              <a:srgbClr val="385473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 容器运行支持实现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170432"/>
            <a:ext cx="106070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项目不只是功能实现，也包含环境配置、AI 辅助开发、代码阅读、debug 与团队协作的综合训练。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69164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 w="10795">
            <a:solidFill>
              <a:srgbClr val="30D6FF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技术推进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97480" y="18562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syscall 测例到 namespace、overlayfs、seccomp、capabilities，逐步搭建容器运行基础。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642616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 w="10795">
            <a:solidFill>
              <a:srgbClr val="37E28B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807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97480" y="28072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从“让 AI 写代码”转向“让 AI 制定计划、辅助理解、辅助 debug”，并通过阅读掌握每个函数的意义。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593592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 w="10795">
            <a:solidFill>
              <a:srgbClr val="FFC857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758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C8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协作经验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97480" y="375818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 涉及 cgroup、VFS、命名空间等多个方向，需要与组员和助教持续沟通协调。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544568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152238"/>
          </a:solidFill>
          <a:ln w="10795">
            <a:solidFill>
              <a:srgbClr val="FF9F43">
                <a:alpha val="8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709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9F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遗憾与目标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97480" y="4709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最终完成 OCI/runc basic 测试，但完整 Docker 仍需后续补齐。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57607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37E2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“代码外的沟通、阅读与调试，也是系统项目的一部分。”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4297680" cy="4297680"/>
          </a:xfrm>
          <a:prstGeom prst="arc">
            <a:avLst/>
          </a:prstGeom>
          <a:solidFill>
            <a:srgbClr val="0A1020">
              <a:alpha val="0"/>
            </a:srgbClr>
          </a:solidFill>
          <a:ln w="17780">
            <a:solidFill>
              <a:srgbClr val="30D6FF">
                <a:alpha val="6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011680"/>
            <a:ext cx="4114800" cy="4114800"/>
          </a:xfrm>
          <a:prstGeom prst="arc">
            <a:avLst/>
          </a:prstGeom>
          <a:solidFill>
            <a:srgbClr val="0A1020">
              <a:alpha val="0"/>
            </a:srgbClr>
          </a:solidFill>
          <a:ln w="17780">
            <a:solidFill>
              <a:srgbClr val="37E28B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182112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0" y="3776472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StarryOS</a:t>
            </a:r>
            <a:r>
              <a:rPr lang="en-US" sz="1100" dirty="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zh-CN" altLang="en-US" sz="110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项目阶段</a:t>
            </a:r>
            <a:r>
              <a:rPr lang="en-US" sz="1100">
                <a:solidFill>
                  <a:srgbClr val="A9B8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1254</Words>
  <Application>Microsoft Office PowerPoint</Application>
  <PresentationFormat>宽屏</PresentationFormat>
  <Paragraphs>368</Paragraphs>
  <Slides>17</Slides>
  <Notes>16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Noto Sans CJK SC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StarryOS 容器运行支持实现汇报</dc:title>
  <dc:subject>StarryOS Docker 支撑能力实现汇报</dc:subject>
  <dc:creator>OpenAI</dc:creator>
  <cp:lastModifiedBy>ge fz</cp:lastModifiedBy>
  <cp:revision>2</cp:revision>
  <dcterms:created xsi:type="dcterms:W3CDTF">2026-06-28T02:53:29Z</dcterms:created>
  <dcterms:modified xsi:type="dcterms:W3CDTF">2026-06-28T03:02:01Z</dcterms:modified>
</cp:coreProperties>
</file>